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Repository: https://github.com/Fei-stack-wq/maie6000c-PRI/tree/41585d96058fa85c185f7ff05fb3d19360670d05</a:t>
            </a:r>
          </a:p>
          <a:p>
            <a:r>
              <a:t>Background: generated with OpenAI image generation for this presentation.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https://github.com/Fei-stack-wq/maie6000c-PRI/blob/41585d96058fa85c185f7ff05fb3d19360670d05/README.md</a:t>
            </a:r>
          </a:p>
          <a:p>
            <a:r>
              <a:t>https://github.com/Fei-stack-wq/maie6000c-PRI/blob/41585d96058fa85c185f7ff05fb3d19360670d05/templates/submissions/week07/README.md</a:t>
            </a:r>
          </a:p>
          <a:p>
            <a:r>
              <a:t>The original five-page frontend still uses mock data. The separate midterm demo uses real backend services and an independent database. The system does not determine defects, liability or root causes.</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https://github.com/Fei-stack-wq/maie6000c-PRI/blob/41585d96058fa85c185f7ff05fb3d19360670d05/templates/submissions/week07/README.md</a:t>
            </a:r>
          </a:p>
          <a:p>
            <a:r>
              <a:t>https://github.com/Fei-stack-wq/maie6000c-PRI/blob/41585d96058fa85c185f7ff05fb3d19360670d05/demo/midterm/app.py</a:t>
            </a:r>
          </a:p>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https://github.com/Fei-stack-wq/maie6000c-PRI/blob/41585d96058fa85c185f7ff05fb3d19360670d05/demo/midterm/app.py</a:t>
            </a:r>
          </a:p>
          <a:p>
            <a:r>
              <a:t>https://github.com/Fei-stack-wq/maie6000c-PRI/blob/41585d96058fa85c185f7ff05fb3d19360670d05/demo/midterm/check_demo.py</a:t>
            </a:r>
          </a:p>
          <a:p>
            <a:r>
              <a:t>Request example reproduces the English normal-analysis acceptance case. This is a documented request example, not a captured response. The demo assigns unique product and source-review IDs.</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https://github.com/Fei-stack-wq/maie6000c-PRI/blob/41585d96058fa85c185f7ff05fb3d19360670d05/demo/midterm/check_demo.py</a:t>
            </a:r>
          </a:p>
          <a:p>
            <a:r>
              <a:t>https://github.com/Fei-stack-wq/maie6000c-PRI/blob/41585d96058fa85c185f7ff05fb3d19360670d05/services/worker/app/jobs.py</a:t>
            </a:r>
          </a:p>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https://github.com/Fei-stack-wq/maie6000c-PRI/blob/41585d96058fa85c185f7ff05fb3d19360670d05/demo/midterm/app.py</a:t>
            </a:r>
          </a:p>
          <a:p>
            <a:r>
              <a:t>https://github.com/Fei-stack-wq/maie6000c-PRI/blob/41585d96058fa85c185f7ff05fb3d19360670d05/services/worker/app/main.py</a:t>
            </a:r>
          </a:p>
          <a:p>
            <a:r>
              <a:t>https://github.com/Fei-stack-wq/maie6000c-PRI/blob/41585d96058fa85c185f7ff05fb3d19360670d05/docs/r2-implementation.md</a:t>
            </a:r>
          </a:p>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https://github.com/Fei-stack-wq/maie6000c-PRI/blob/41585d96058fa85c185f7ff05fb3d19360670d05/templates/submissions/week07/assets/verification.md</a:t>
            </a:r>
          </a:p>
          <a:p>
            <a:r>
              <a:t>https://github.com/Fei-stack-wq/maie6000c-PRI/blob/41585d96058fa85c185f7ff05fb3d19360670d05/templates/submissions/week07/assets/demo-result-zh.jpg</a:t>
            </a:r>
          </a:p>
          <a:p>
            <a:r>
              <a:t>Original repository screenshot, Chinese interface, preserved without altering its content. English explanations translate the visible evidence. This is an existing repository capture, not a fresh execution in this presentation authoring session.</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https://github.com/Fei-stack-wq/maie6000c-PRI/blob/41585d96058fa85c185f7ff05fb3d19360670d05/services/worker/app/jobs.py</a:t>
            </a:r>
          </a:p>
          <a:p>
            <a:r>
              <a:t>https://github.com/Fei-stack-wq/maie6000c-PRI/blob/41585d96058fa85c185f7ff05fb3d19360670d05/demo/midterm/check_demo.py</a:t>
            </a:r>
          </a:p>
          <a:p>
            <a:r>
              <a:t>https://github.com/Fei-stack-wq/maie6000c-PRI/blob/41585d96058fa85c185f7ff05fb3d19360670d05/templates/submissions/week07/assets/verification.md</a:t>
            </a:r>
          </a:p>
          <a:p>
            <a:r>
              <a:t>Code excerpt from complete_job, abbreviated with an explicit omission marker. The five jobs/eight runs count belongs to an earlier isolated restart check and must not be presented as the latest bilingual acceptance count.</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https://github.com/Fei-stack-wq/maie6000c-PRI/blob/41585d96058fa85c185f7ff05fb3d19360670d05/demo/midterm/README.md</a:t>
            </a:r>
          </a:p>
          <a:p>
            <a:r>
              <a:t>https://github.com/Fei-stack-wq/maie6000c-PRI/blob/41585d96058fa85c185f7ff05fb3d19360670d05/demo/midterm/app.py</a:t>
            </a:r>
          </a:p>
          <a:p>
            <a:r>
              <a:t>https://github.com/Fei-stack-wq/maie6000c-PRI/blob/41585d96058fa85c185f7ff05fb3d19360670d05/demo/midterm/check_demo.py</a:t>
            </a:r>
          </a:p>
          <a:p>
            <a:r>
              <a:t>Failure cases deliberately simulate service faults. The actual R2 Worker processes these responses. The demo shortens delays without replacing the production processing logic. Outcomes are expected scenarios backed by repository acceptance records, not new screenshots.</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https://github.com/Fei-stack-wq/maie6000c-PRI/blob/41585d96058fa85c185f7ff05fb3d19360670d05/services/worker/app/metrics.py</a:t>
            </a:r>
          </a:p>
          <a:p>
            <a:r>
              <a:t>https://github.com/Fei-stack-wq/maie6000c-PRI/blob/41585d96058fa85c185f7ff05fb3d19360670d05/services/worker/app/main.py</a:t>
            </a:r>
          </a:p>
          <a:p>
            <a:r>
              <a:t>https://github.com/Fei-stack-wq/maie6000c-PRI/blob/41585d96058fa85c185f7ff05fb3d19360670d05/demo/midterm/check_demo.py</a:t>
            </a:r>
          </a:p>
          <a:p>
            <a:r>
              <a:t>Worker port 8200 stays internal in the Compose configuration. The metrics server starts with the Worker. Metric names shown are code evidence, not fabricated measured values. Worker logs emit job_claimed, job_attempt_finished and worker_stopped.</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https://github.com/Fei-stack-wq/maie6000c-PRI/blob/41585d96058fa85c185f7ff05fb3d19360670d05/templates/submissions/week07/assets/verification.md</a:t>
            </a:r>
          </a:p>
          <a:p>
            <a:r>
              <a:t>https://github.com/Fei-stack-wq/maie6000c-PRI/blob/41585d96058fa85c185f7ff05fb3d19360670d05/.github/workflows/ci.yml</a:t>
            </a:r>
          </a:p>
          <a:p>
            <a:r>
              <a:t>All numbers are repository-reported results dated 29 October 2026. They were not rerun during deck preparation. Python 3.11.16, PostgreSQL 16, isolated Docker resources. CI config covers lint, migrations and unit/integration tests, not the live demo. Later delivery-rule regression checks: 78 analysis unit tests and four live demo regressions, separate from the earlier full suite.</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https://github.com/Fei-stack-wq/maie6000c-PRI/blob/41585d96058fa85c185f7ff05fb3d19360670d05/README.md</a:t>
            </a:r>
          </a:p>
          <a:p>
            <a:r>
              <a:t>https://github.com/Fei-stack-wq/maie6000c-PRI/blob/41585d96058fa85c185f7ff05fb3d19360670d05/templates/submissions/week07/README.md</a:t>
            </a:r>
          </a:p>
          <a:p>
            <a:r>
              <a:t>https://github.com/Fei-stack-wq/maie6000c-PRI/blob/41585d96058fa85c185f7ff05fb3d19360670d05/docs/r2-implementation.md</a:t>
            </a:r>
          </a:p>
          <a:p>
            <a:r>
              <a:t>Owner mapping follows R1 data/ingestion, R2 reliability, R3 AI/evaluation and R4 product/review responsibilities. Sequencing is a proposed follow-through based on repository next work. Multi-platform ingestion, model training and automated platform actions remain outside scope.</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https://github.com/Fei-stack-wq/maie6000c-PRI/blob/41585d96058fa85c185f7ff05fb3d19360670d05/demo/midterm/README.md</a:t>
            </a:r>
          </a:p>
          <a:p>
            <a:r>
              <a:t>https://github.com/Fei-stack-wq/maie6000c-PRI/blob/41585d96058fa85c185f7ff05fb3d19360670d05/compose.midterm.yaml</a:t>
            </a:r>
          </a:p>
          <a:p>
            <a:r>
              <a:t>Prerequisites: download feature/r2-worker and start Docker Desktop. Run commands at repository root. The macOS/Linux command is shown across two visual lines for readability; execute it as one command: docker compose -f compose.midterm.yaml up --build -d --wait. No .env or model API key is needed. First build downloads dependencies. Normal, fail-once and fail-until-limit scenarios share one local round. Use one presenter at a time. docker compose -f compose.midterm.yaml down preserves the database volume.</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https://github.com/Fei-stack-wq/maie6000c-PRI/blob/41585d96058fa85c185f7ff05fb3d19360670d05/templates/submissions/week07/README.md</a:t>
            </a:r>
          </a:p>
          <a:p>
            <a:r>
              <a:t>https://github.com/Fei-stack-wq/maie6000c-PRI/blob/41585d96058fa85c185f7ff05fb3d19360670d05/templates/submissions/week07/assets/verification.md</a:t>
            </a:r>
          </a:p>
          <a:p>
            <a:r>
              <a:t>https://github.com/Fei-stack-wq/maie6000c-PRI/blob/41585d96058fa85c185f7ff05fb3d19360670d05/demo/midterm/README.md</a:t>
            </a:r>
          </a:p>
          <a:p>
            <a:r>
              <a:t>Snapshot: 41585d96058fa85c185f7ff05fb3d19360670d05. Repository URL: https://github.com/Fei-stack-wq/maie6000c-PRI. All supporting source URLs are included in each slide’s notes. Test results and original screenshot come from the repository. The AI Use Statement in the submission records ChatGPT support for documentation, code scaffolding and testing.</a:t>
            </a:r>
          </a:p>
          <a:p>
            <a:r>
              <a:t>Background: generated pastel paper artwork, used as decoration only.</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85800" y="1619250"/>
            <a:ext cx="9525000" cy="1905000"/>
          </a:xfrm>
          <a:prstGeom prst="rect">
            <a:avLst/>
          </a:prstGeom>
          <a:noFill/>
          <a:ln w="0">
            <a:noFill/>
          </a:ln>
        </p:spPr>
        <p:txBody>
          <a:bodyPr/>
          <a:lstStyle>
            <a:defPPr>
              <a:defRPr sz="4350" b="1">
                <a:solidFill>
                  <a:srgbClr val="000000"/>
                </a:solidFill>
                <a:latin typeface="Arial" panose="020B0604020202090204"/>
                <a:ea typeface="Arial" panose="020B0604020202090204"/>
                <a:cs typeface="Arial" panose="020B0604020202090204"/>
              </a:defRPr>
            </a:defPPr>
            <a:lvl1pPr>
              <a:defRPr sz="4350" b="1">
                <a:solidFill>
                  <a:srgbClr val="000000"/>
                </a:solidFill>
                <a:latin typeface="Arial" panose="020B0604020202090204"/>
                <a:ea typeface="Arial" panose="020B0604020202090204"/>
                <a:cs typeface="Arial" panose="020B0604020202090204"/>
              </a:defRPr>
            </a:lvl1pPr>
            <a:lvl2pPr>
              <a:defRPr sz="4350" b="1">
                <a:solidFill>
                  <a:srgbClr val="000000"/>
                </a:solidFill>
                <a:latin typeface="Arial" panose="020B0604020202090204"/>
                <a:ea typeface="Arial" panose="020B0604020202090204"/>
                <a:cs typeface="Arial" panose="020B0604020202090204"/>
              </a:defRPr>
            </a:lvl2pPr>
            <a:lvl3pPr>
              <a:defRPr sz="4350" b="1">
                <a:solidFill>
                  <a:srgbClr val="000000"/>
                </a:solidFill>
                <a:latin typeface="Arial" panose="020B0604020202090204"/>
                <a:ea typeface="Arial" panose="020B0604020202090204"/>
                <a:cs typeface="Arial" panose="020B0604020202090204"/>
              </a:defRPr>
            </a:lvl3pPr>
            <a:lvl4pPr>
              <a:defRPr sz="4350" b="1">
                <a:solidFill>
                  <a:srgbClr val="000000"/>
                </a:solidFill>
                <a:latin typeface="Arial" panose="020B0604020202090204"/>
                <a:ea typeface="Arial" panose="020B0604020202090204"/>
                <a:cs typeface="Arial" panose="020B0604020202090204"/>
              </a:defRPr>
            </a:lvl4pPr>
            <a:lvl5pPr>
              <a:defRPr sz="4350" b="1">
                <a:solidFill>
                  <a:srgbClr val="000000"/>
                </a:solidFill>
                <a:latin typeface="Arial" panose="020B0604020202090204"/>
                <a:ea typeface="Arial" panose="020B0604020202090204"/>
                <a:cs typeface="Arial" panose="020B0604020202090204"/>
              </a:defRPr>
            </a:lvl5pPr>
            <a:lvl6pPr>
              <a:defRPr sz="4350" b="1">
                <a:solidFill>
                  <a:srgbClr val="000000"/>
                </a:solidFill>
                <a:latin typeface="Arial" panose="020B0604020202090204"/>
                <a:ea typeface="Arial" panose="020B0604020202090204"/>
                <a:cs typeface="Arial" panose="020B0604020202090204"/>
              </a:defRPr>
            </a:lvl6pPr>
            <a:lvl7pPr>
              <a:defRPr sz="4350" b="1">
                <a:solidFill>
                  <a:srgbClr val="000000"/>
                </a:solidFill>
                <a:latin typeface="Arial" panose="020B0604020202090204"/>
                <a:ea typeface="Arial" panose="020B0604020202090204"/>
                <a:cs typeface="Arial" panose="020B0604020202090204"/>
              </a:defRPr>
            </a:lvl7pPr>
            <a:lvl8pPr>
              <a:defRPr sz="4350" b="1">
                <a:solidFill>
                  <a:srgbClr val="000000"/>
                </a:solidFill>
                <a:latin typeface="Arial" panose="020B0604020202090204"/>
                <a:ea typeface="Arial" panose="020B0604020202090204"/>
                <a:cs typeface="Arial" panose="020B0604020202090204"/>
              </a:defRPr>
            </a:lvl8pPr>
            <a:lvl9pPr>
              <a:defRPr sz="4350" b="1">
                <a:solidFill>
                  <a:srgbClr val="000000"/>
                </a:solidFill>
                <a:latin typeface="Arial" panose="020B0604020202090204"/>
                <a:ea typeface="Arial" panose="020B0604020202090204"/>
                <a:cs typeface="Arial" panose="020B0604020202090204"/>
              </a:defRPr>
            </a:lvl9pPr>
          </a:lstStyle>
          <a:p>
            <a:pPr>
              <a:defRPr sz="4350" b="1">
                <a:solidFill>
                  <a:srgbClr val="000000"/>
                </a:solidFill>
                <a:latin typeface="Arial" panose="020B0604020202090204"/>
                <a:ea typeface="Arial" panose="020B0604020202090204"/>
                <a:cs typeface="Arial" panose="020B0604020202090204"/>
              </a:defRPr>
            </a:pPr>
            <a:r>
              <a:rPr sz="4350" b="1">
                <a:solidFill>
                  <a:srgbClr val="000000"/>
                </a:solidFill>
                <a:latin typeface="Arial" panose="020B0604020202090204"/>
                <a:ea typeface="Arial" panose="020B0604020202090204"/>
                <a:cs typeface="Arial" panose="020B0604020202090204"/>
              </a:rPr>
              <a:t>Product Review Analysis</a:t>
            </a:r>
            <a:endParaRPr sz="4350" b="1">
              <a:solidFill>
                <a:srgbClr val="000000"/>
              </a:solidFill>
              <a:latin typeface="Arial" panose="020B0604020202090204"/>
              <a:ea typeface="Arial" panose="020B0604020202090204"/>
              <a:cs typeface="Arial" panose="020B0604020202090204"/>
            </a:endParaRPr>
          </a:p>
          <a:p>
            <a:pPr>
              <a:defRPr sz="4350" b="1">
                <a:solidFill>
                  <a:srgbClr val="000000"/>
                </a:solidFill>
                <a:latin typeface="Arial" panose="020B0604020202090204"/>
                <a:ea typeface="Arial" panose="020B0604020202090204"/>
                <a:cs typeface="Arial" panose="020B0604020202090204"/>
              </a:defRPr>
            </a:pPr>
            <a:r>
              <a:rPr sz="4350" b="1">
                <a:solidFill>
                  <a:srgbClr val="000000"/>
                </a:solidFill>
                <a:latin typeface="Arial" panose="020B0604020202090204"/>
                <a:ea typeface="Arial" panose="020B0604020202090204"/>
                <a:cs typeface="Arial" panose="020B0604020202090204"/>
              </a:rPr>
              <a:t>&amp; Issue Discovery</a:t>
            </a:r>
            <a:endParaRPr sz="43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85800" y="781050"/>
            <a:ext cx="8572500" cy="381000"/>
          </a:xfrm>
          <a:prstGeom prst="rect">
            <a:avLst/>
          </a:prstGeom>
          <a:noFill/>
          <a:ln w="0">
            <a:noFill/>
          </a:ln>
        </p:spPr>
        <p:txBody>
          <a:bodyPr anchor="t"/>
          <a:lstStyle>
            <a:defPPr>
              <a:defRPr sz="1800" b="1">
                <a:solidFill>
                  <a:srgbClr val="000000"/>
                </a:solidFill>
                <a:latin typeface="Arial" panose="020B0604020202090204"/>
                <a:ea typeface="Arial" panose="020B0604020202090204"/>
                <a:cs typeface="Arial" panose="020B0604020202090204"/>
              </a:defRPr>
            </a:defPPr>
            <a:lvl1pPr>
              <a:defRPr sz="1800" b="1">
                <a:solidFill>
                  <a:srgbClr val="000000"/>
                </a:solidFill>
                <a:latin typeface="Arial" panose="020B0604020202090204"/>
                <a:ea typeface="Arial" panose="020B0604020202090204"/>
                <a:cs typeface="Arial" panose="020B0604020202090204"/>
              </a:defRPr>
            </a:lvl1pPr>
            <a:lvl2pPr>
              <a:defRPr sz="1800" b="1">
                <a:solidFill>
                  <a:srgbClr val="000000"/>
                </a:solidFill>
                <a:latin typeface="Arial" panose="020B0604020202090204"/>
                <a:ea typeface="Arial" panose="020B0604020202090204"/>
                <a:cs typeface="Arial" panose="020B0604020202090204"/>
              </a:defRPr>
            </a:lvl2pPr>
            <a:lvl3pPr>
              <a:defRPr sz="1800" b="1">
                <a:solidFill>
                  <a:srgbClr val="000000"/>
                </a:solidFill>
                <a:latin typeface="Arial" panose="020B0604020202090204"/>
                <a:ea typeface="Arial" panose="020B0604020202090204"/>
                <a:cs typeface="Arial" panose="020B0604020202090204"/>
              </a:defRPr>
            </a:lvl3pPr>
            <a:lvl4pPr>
              <a:defRPr sz="1800" b="1">
                <a:solidFill>
                  <a:srgbClr val="000000"/>
                </a:solidFill>
                <a:latin typeface="Arial" panose="020B0604020202090204"/>
                <a:ea typeface="Arial" panose="020B0604020202090204"/>
                <a:cs typeface="Arial" panose="020B0604020202090204"/>
              </a:defRPr>
            </a:lvl4pPr>
            <a:lvl5pPr>
              <a:defRPr sz="1800" b="1">
                <a:solidFill>
                  <a:srgbClr val="000000"/>
                </a:solidFill>
                <a:latin typeface="Arial" panose="020B0604020202090204"/>
                <a:ea typeface="Arial" panose="020B0604020202090204"/>
                <a:cs typeface="Arial" panose="020B0604020202090204"/>
              </a:defRPr>
            </a:lvl5pPr>
            <a:lvl6pPr>
              <a:defRPr sz="1800" b="1">
                <a:solidFill>
                  <a:srgbClr val="000000"/>
                </a:solidFill>
                <a:latin typeface="Arial" panose="020B0604020202090204"/>
                <a:ea typeface="Arial" panose="020B0604020202090204"/>
                <a:cs typeface="Arial" panose="020B0604020202090204"/>
              </a:defRPr>
            </a:lvl6pPr>
            <a:lvl7pPr>
              <a:defRPr sz="1800" b="1">
                <a:solidFill>
                  <a:srgbClr val="000000"/>
                </a:solidFill>
                <a:latin typeface="Arial" panose="020B0604020202090204"/>
                <a:ea typeface="Arial" panose="020B0604020202090204"/>
                <a:cs typeface="Arial" panose="020B0604020202090204"/>
              </a:defRPr>
            </a:lvl7pPr>
            <a:lvl8pPr>
              <a:defRPr sz="1800" b="1">
                <a:solidFill>
                  <a:srgbClr val="000000"/>
                </a:solidFill>
                <a:latin typeface="Arial" panose="020B0604020202090204"/>
                <a:ea typeface="Arial" panose="020B0604020202090204"/>
                <a:cs typeface="Arial" panose="020B0604020202090204"/>
              </a:defRPr>
            </a:lvl8pPr>
            <a:lvl9pPr>
              <a:defRPr sz="1800" b="1">
                <a:solidFill>
                  <a:srgbClr val="000000"/>
                </a:solidFill>
                <a:latin typeface="Arial" panose="020B0604020202090204"/>
                <a:ea typeface="Arial" panose="020B0604020202090204"/>
                <a:cs typeface="Arial" panose="020B0604020202090204"/>
              </a:defRPr>
            </a:lvl9pPr>
          </a:lstStyle>
          <a:p>
            <a:pPr>
              <a:defRPr sz="1800" b="1">
                <a:solidFill>
                  <a:srgbClr val="000000"/>
                </a:solidFill>
                <a:latin typeface="Arial" panose="020B0604020202090204"/>
                <a:ea typeface="Arial" panose="020B0604020202090204"/>
                <a:cs typeface="Arial" panose="020B0604020202090204"/>
              </a:defRPr>
            </a:pPr>
            <a:r>
              <a:rPr sz="1800" b="1">
                <a:solidFill>
                  <a:srgbClr val="000000"/>
                </a:solidFill>
                <a:latin typeface="Arial" panose="020B0604020202090204"/>
                <a:ea typeface="Arial" panose="020B0604020202090204"/>
                <a:cs typeface="Arial" panose="020B0604020202090204"/>
              </a:rPr>
              <a:t>W07 MIDTERM MILESTONE</a:t>
            </a:r>
            <a:endParaRPr sz="1800" b="1">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85800" y="3667125"/>
            <a:ext cx="9525000" cy="952500"/>
          </a:xfrm>
          <a:prstGeom prst="rect">
            <a:avLst/>
          </a:prstGeom>
          <a:noFill/>
          <a:ln w="0">
            <a:noFill/>
          </a:ln>
        </p:spPr>
        <p:txBody>
          <a:bodyPr anchor="t"/>
          <a:lstStyle>
            <a:defPPr>
              <a:defRPr sz="2250" b="0">
                <a:solidFill>
                  <a:srgbClr val="000000"/>
                </a:solidFill>
                <a:latin typeface="Arial" panose="020B0604020202090204"/>
                <a:ea typeface="Arial" panose="020B0604020202090204"/>
                <a:cs typeface="Arial" panose="020B0604020202090204"/>
              </a:defRPr>
            </a:defPPr>
            <a:lvl1pPr>
              <a:defRPr sz="2250" b="0">
                <a:solidFill>
                  <a:srgbClr val="000000"/>
                </a:solidFill>
                <a:latin typeface="Arial" panose="020B0604020202090204"/>
                <a:ea typeface="Arial" panose="020B0604020202090204"/>
                <a:cs typeface="Arial" panose="020B0604020202090204"/>
              </a:defRPr>
            </a:lvl1pPr>
            <a:lvl2pPr>
              <a:defRPr sz="2250" b="0">
                <a:solidFill>
                  <a:srgbClr val="000000"/>
                </a:solidFill>
                <a:latin typeface="Arial" panose="020B0604020202090204"/>
                <a:ea typeface="Arial" panose="020B0604020202090204"/>
                <a:cs typeface="Arial" panose="020B0604020202090204"/>
              </a:defRPr>
            </a:lvl2pPr>
            <a:lvl3pPr>
              <a:defRPr sz="2250" b="0">
                <a:solidFill>
                  <a:srgbClr val="000000"/>
                </a:solidFill>
                <a:latin typeface="Arial" panose="020B0604020202090204"/>
                <a:ea typeface="Arial" panose="020B0604020202090204"/>
                <a:cs typeface="Arial" panose="020B0604020202090204"/>
              </a:defRPr>
            </a:lvl3pPr>
            <a:lvl4pPr>
              <a:defRPr sz="2250" b="0">
                <a:solidFill>
                  <a:srgbClr val="000000"/>
                </a:solidFill>
                <a:latin typeface="Arial" panose="020B0604020202090204"/>
                <a:ea typeface="Arial" panose="020B0604020202090204"/>
                <a:cs typeface="Arial" panose="020B0604020202090204"/>
              </a:defRPr>
            </a:lvl4pPr>
            <a:lvl5pPr>
              <a:defRPr sz="2250" b="0">
                <a:solidFill>
                  <a:srgbClr val="000000"/>
                </a:solidFill>
                <a:latin typeface="Arial" panose="020B0604020202090204"/>
                <a:ea typeface="Arial" panose="020B0604020202090204"/>
                <a:cs typeface="Arial" panose="020B0604020202090204"/>
              </a:defRPr>
            </a:lvl5pPr>
            <a:lvl6pPr>
              <a:defRPr sz="2250" b="0">
                <a:solidFill>
                  <a:srgbClr val="000000"/>
                </a:solidFill>
                <a:latin typeface="Arial" panose="020B0604020202090204"/>
                <a:ea typeface="Arial" panose="020B0604020202090204"/>
                <a:cs typeface="Arial" panose="020B0604020202090204"/>
              </a:defRPr>
            </a:lvl6pPr>
            <a:lvl7pPr>
              <a:defRPr sz="2250" b="0">
                <a:solidFill>
                  <a:srgbClr val="000000"/>
                </a:solidFill>
                <a:latin typeface="Arial" panose="020B0604020202090204"/>
                <a:ea typeface="Arial" panose="020B0604020202090204"/>
                <a:cs typeface="Arial" panose="020B0604020202090204"/>
              </a:defRPr>
            </a:lvl7pPr>
            <a:lvl8pPr>
              <a:defRPr sz="2250" b="0">
                <a:solidFill>
                  <a:srgbClr val="000000"/>
                </a:solidFill>
                <a:latin typeface="Arial" panose="020B0604020202090204"/>
                <a:ea typeface="Arial" panose="020B0604020202090204"/>
                <a:cs typeface="Arial" panose="020B0604020202090204"/>
              </a:defRPr>
            </a:lvl8pPr>
            <a:lvl9pPr>
              <a:defRPr sz="2250" b="0">
                <a:solidFill>
                  <a:srgbClr val="000000"/>
                </a:solidFill>
                <a:latin typeface="Arial" panose="020B0604020202090204"/>
                <a:ea typeface="Arial" panose="020B0604020202090204"/>
                <a:cs typeface="Arial" panose="020B0604020202090204"/>
              </a:defRPr>
            </a:lvl9pPr>
          </a:lstStyle>
          <a:p>
            <a:pPr>
              <a:defRPr sz="2250" b="0">
                <a:solidFill>
                  <a:srgbClr val="000000"/>
                </a:solidFill>
                <a:latin typeface="Arial" panose="020B0604020202090204"/>
                <a:ea typeface="Arial" panose="020B0604020202090204"/>
                <a:cs typeface="Arial" panose="020B0604020202090204"/>
              </a:defRPr>
            </a:pPr>
            <a:r>
              <a:rPr sz="2250" b="0">
                <a:solidFill>
                  <a:srgbClr val="000000"/>
                </a:solidFill>
                <a:latin typeface="Arial" panose="020B0604020202090204"/>
                <a:ea typeface="Arial" panose="020B0604020202090204"/>
                <a:cs typeface="Arial" panose="020B0604020202090204"/>
              </a:rPr>
              <a:t>A working review-processing path with persisted evidence</a:t>
            </a:r>
            <a:endParaRPr sz="2250" b="0">
              <a:solidFill>
                <a:srgbClr val="000000"/>
              </a:solidFill>
              <a:latin typeface="Arial" panose="020B0604020202090204"/>
              <a:ea typeface="Arial" panose="020B0604020202090204"/>
              <a:cs typeface="Arial" panose="020B0604020202090204"/>
            </a:endParaRPr>
          </a:p>
          <a:p>
            <a:pPr>
              <a:defRPr sz="2250" b="0">
                <a:solidFill>
                  <a:srgbClr val="000000"/>
                </a:solidFill>
                <a:latin typeface="Arial" panose="020B0604020202090204"/>
                <a:ea typeface="Arial" panose="020B0604020202090204"/>
                <a:cs typeface="Arial" panose="020B0604020202090204"/>
              </a:defRPr>
            </a:pPr>
            <a:r>
              <a:rPr sz="2250" b="0">
                <a:solidFill>
                  <a:srgbClr val="000000"/>
                </a:solidFill>
                <a:latin typeface="Arial" panose="020B0604020202090204"/>
                <a:ea typeface="Arial" panose="020B0604020202090204"/>
                <a:cs typeface="Arial" panose="020B0604020202090204"/>
              </a:rPr>
              <a:t>and bounded retries</a:t>
            </a:r>
            <a:endParaRPr sz="2250" b="0">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85800" y="5238750"/>
            <a:ext cx="10001250" cy="381000"/>
          </a:xfrm>
          <a:prstGeom prst="rect">
            <a:avLst/>
          </a:prstGeom>
          <a:noFill/>
          <a:ln w="0">
            <a:noFill/>
          </a:ln>
        </p:spPr>
        <p:txBody>
          <a:bodyPr anchor="t"/>
          <a:lstStyle>
            <a:defPPr>
              <a:defRPr sz="1650" b="0">
                <a:solidFill>
                  <a:srgbClr val="000000"/>
                </a:solidFill>
                <a:latin typeface="Arial" panose="020B0604020202090204"/>
                <a:ea typeface="Arial" panose="020B0604020202090204"/>
                <a:cs typeface="Arial" panose="020B0604020202090204"/>
              </a:defRPr>
            </a:defPPr>
            <a:lvl1pPr>
              <a:defRPr sz="1650" b="0">
                <a:solidFill>
                  <a:srgbClr val="000000"/>
                </a:solidFill>
                <a:latin typeface="Arial" panose="020B0604020202090204"/>
                <a:ea typeface="Arial" panose="020B0604020202090204"/>
                <a:cs typeface="Arial" panose="020B0604020202090204"/>
              </a:defRPr>
            </a:lvl1pPr>
            <a:lvl2pPr>
              <a:defRPr sz="1650" b="0">
                <a:solidFill>
                  <a:srgbClr val="000000"/>
                </a:solidFill>
                <a:latin typeface="Arial" panose="020B0604020202090204"/>
                <a:ea typeface="Arial" panose="020B0604020202090204"/>
                <a:cs typeface="Arial" panose="020B0604020202090204"/>
              </a:defRPr>
            </a:lvl2pPr>
            <a:lvl3pPr>
              <a:defRPr sz="1650" b="0">
                <a:solidFill>
                  <a:srgbClr val="000000"/>
                </a:solidFill>
                <a:latin typeface="Arial" panose="020B0604020202090204"/>
                <a:ea typeface="Arial" panose="020B0604020202090204"/>
                <a:cs typeface="Arial" panose="020B0604020202090204"/>
              </a:defRPr>
            </a:lvl3pPr>
            <a:lvl4pPr>
              <a:defRPr sz="1650" b="0">
                <a:solidFill>
                  <a:srgbClr val="000000"/>
                </a:solidFill>
                <a:latin typeface="Arial" panose="020B0604020202090204"/>
                <a:ea typeface="Arial" panose="020B0604020202090204"/>
                <a:cs typeface="Arial" panose="020B0604020202090204"/>
              </a:defRPr>
            </a:lvl4pPr>
            <a:lvl5pPr>
              <a:defRPr sz="1650" b="0">
                <a:solidFill>
                  <a:srgbClr val="000000"/>
                </a:solidFill>
                <a:latin typeface="Arial" panose="020B0604020202090204"/>
                <a:ea typeface="Arial" panose="020B0604020202090204"/>
                <a:cs typeface="Arial" panose="020B0604020202090204"/>
              </a:defRPr>
            </a:lvl5pPr>
            <a:lvl6pPr>
              <a:defRPr sz="1650" b="0">
                <a:solidFill>
                  <a:srgbClr val="000000"/>
                </a:solidFill>
                <a:latin typeface="Arial" panose="020B0604020202090204"/>
                <a:ea typeface="Arial" panose="020B0604020202090204"/>
                <a:cs typeface="Arial" panose="020B0604020202090204"/>
              </a:defRPr>
            </a:lvl6pPr>
            <a:lvl7pPr>
              <a:defRPr sz="1650" b="0">
                <a:solidFill>
                  <a:srgbClr val="000000"/>
                </a:solidFill>
                <a:latin typeface="Arial" panose="020B0604020202090204"/>
                <a:ea typeface="Arial" panose="020B0604020202090204"/>
                <a:cs typeface="Arial" panose="020B0604020202090204"/>
              </a:defRPr>
            </a:lvl7pPr>
            <a:lvl8pPr>
              <a:defRPr sz="1650" b="0">
                <a:solidFill>
                  <a:srgbClr val="000000"/>
                </a:solidFill>
                <a:latin typeface="Arial" panose="020B0604020202090204"/>
                <a:ea typeface="Arial" panose="020B0604020202090204"/>
                <a:cs typeface="Arial" panose="020B0604020202090204"/>
              </a:defRPr>
            </a:lvl8pPr>
            <a:lvl9pPr>
              <a:defRPr sz="1650" b="0">
                <a:solidFill>
                  <a:srgbClr val="000000"/>
                </a:solidFill>
                <a:latin typeface="Arial" panose="020B0604020202090204"/>
                <a:ea typeface="Arial" panose="020B0604020202090204"/>
                <a:cs typeface="Arial" panose="020B0604020202090204"/>
              </a:defRPr>
            </a:lvl9pPr>
          </a:lstStyle>
          <a:p>
            <a:pPr>
              <a:defRPr sz="1650" b="0">
                <a:solidFill>
                  <a:srgbClr val="000000"/>
                </a:solidFill>
                <a:latin typeface="Arial" panose="020B0604020202090204"/>
                <a:ea typeface="Arial" panose="020B0604020202090204"/>
                <a:cs typeface="Arial" panose="020B0604020202090204"/>
              </a:defRPr>
            </a:pPr>
            <a:r>
              <a:rPr sz="1650" b="0">
                <a:solidFill>
                  <a:srgbClr val="000000"/>
                </a:solidFill>
                <a:latin typeface="Arial" panose="020B0604020202090204"/>
                <a:ea typeface="Arial" panose="020B0604020202090204"/>
                <a:cs typeface="Arial" panose="020B0604020202090204"/>
              </a:rPr>
              <a:t>FEI, Wenxiang   /   XIANG, Ke   /   XU, Chao   /   ZHANG, Mingyang</a:t>
            </a:r>
            <a:endParaRPr sz="1650"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85800" y="5762625"/>
            <a:ext cx="9906000" cy="333375"/>
          </a:xfrm>
          <a:prstGeom prst="rect">
            <a:avLst/>
          </a:prstGeom>
          <a:noFill/>
          <a:ln w="0">
            <a:noFill/>
          </a:ln>
        </p:spPr>
        <p:txBody>
          <a:bodyPr anchor="t"/>
          <a:lstStyle>
            <a:defPPr>
              <a:defRPr sz="1350" b="0">
                <a:solidFill>
                  <a:srgbClr val="000000"/>
                </a:solidFill>
                <a:latin typeface="Arial" panose="020B0604020202090204"/>
                <a:ea typeface="Arial" panose="020B0604020202090204"/>
                <a:cs typeface="Arial" panose="020B0604020202090204"/>
              </a:defRPr>
            </a:defPPr>
            <a:lvl1pPr>
              <a:defRPr sz="1350" b="0">
                <a:solidFill>
                  <a:srgbClr val="000000"/>
                </a:solidFill>
                <a:latin typeface="Arial" panose="020B0604020202090204"/>
                <a:ea typeface="Arial" panose="020B0604020202090204"/>
                <a:cs typeface="Arial" panose="020B0604020202090204"/>
              </a:defRPr>
            </a:lvl1pPr>
            <a:lvl2pPr>
              <a:defRPr sz="1350" b="0">
                <a:solidFill>
                  <a:srgbClr val="000000"/>
                </a:solidFill>
                <a:latin typeface="Arial" panose="020B0604020202090204"/>
                <a:ea typeface="Arial" panose="020B0604020202090204"/>
                <a:cs typeface="Arial" panose="020B0604020202090204"/>
              </a:defRPr>
            </a:lvl2pPr>
            <a:lvl3pPr>
              <a:defRPr sz="1350" b="0">
                <a:solidFill>
                  <a:srgbClr val="000000"/>
                </a:solidFill>
                <a:latin typeface="Arial" panose="020B0604020202090204"/>
                <a:ea typeface="Arial" panose="020B0604020202090204"/>
                <a:cs typeface="Arial" panose="020B0604020202090204"/>
              </a:defRPr>
            </a:lvl3pPr>
            <a:lvl4pPr>
              <a:defRPr sz="1350" b="0">
                <a:solidFill>
                  <a:srgbClr val="000000"/>
                </a:solidFill>
                <a:latin typeface="Arial" panose="020B0604020202090204"/>
                <a:ea typeface="Arial" panose="020B0604020202090204"/>
                <a:cs typeface="Arial" panose="020B0604020202090204"/>
              </a:defRPr>
            </a:lvl4pPr>
            <a:lvl5pPr>
              <a:defRPr sz="1350" b="0">
                <a:solidFill>
                  <a:srgbClr val="000000"/>
                </a:solidFill>
                <a:latin typeface="Arial" panose="020B0604020202090204"/>
                <a:ea typeface="Arial" panose="020B0604020202090204"/>
                <a:cs typeface="Arial" panose="020B0604020202090204"/>
              </a:defRPr>
            </a:lvl5pPr>
            <a:lvl6pPr>
              <a:defRPr sz="1350" b="0">
                <a:solidFill>
                  <a:srgbClr val="000000"/>
                </a:solidFill>
                <a:latin typeface="Arial" panose="020B0604020202090204"/>
                <a:ea typeface="Arial" panose="020B0604020202090204"/>
                <a:cs typeface="Arial" panose="020B0604020202090204"/>
              </a:defRPr>
            </a:lvl6pPr>
            <a:lvl7pPr>
              <a:defRPr sz="1350" b="0">
                <a:solidFill>
                  <a:srgbClr val="000000"/>
                </a:solidFill>
                <a:latin typeface="Arial" panose="020B0604020202090204"/>
                <a:ea typeface="Arial" panose="020B0604020202090204"/>
                <a:cs typeface="Arial" panose="020B0604020202090204"/>
              </a:defRPr>
            </a:lvl7pPr>
            <a:lvl8pPr>
              <a:defRPr sz="1350" b="0">
                <a:solidFill>
                  <a:srgbClr val="000000"/>
                </a:solidFill>
                <a:latin typeface="Arial" panose="020B0604020202090204"/>
                <a:ea typeface="Arial" panose="020B0604020202090204"/>
                <a:cs typeface="Arial" panose="020B0604020202090204"/>
              </a:defRPr>
            </a:lvl8pPr>
            <a:lvl9pPr>
              <a:defRPr sz="1350" b="0">
                <a:solidFill>
                  <a:srgbClr val="000000"/>
                </a:solidFill>
                <a:latin typeface="Arial" panose="020B0604020202090204"/>
                <a:ea typeface="Arial" panose="020B0604020202090204"/>
                <a:cs typeface="Arial" panose="020B0604020202090204"/>
              </a:defRPr>
            </a:lvl9pPr>
          </a:lstStyle>
          <a:p>
            <a:pPr>
              <a:defRPr sz="1350" b="0">
                <a:solidFill>
                  <a:srgbClr val="000000"/>
                </a:solidFill>
                <a:latin typeface="Arial" panose="020B0604020202090204"/>
                <a:ea typeface="Arial" panose="020B0604020202090204"/>
                <a:cs typeface="Arial" panose="020B0604020202090204"/>
              </a:defRPr>
            </a:pPr>
            <a:r>
              <a:rPr sz="1350" b="0">
                <a:solidFill>
                  <a:srgbClr val="000000"/>
                </a:solidFill>
                <a:latin typeface="Arial" panose="020B0604020202090204"/>
                <a:ea typeface="Arial" panose="020B0604020202090204"/>
                <a:cs typeface="Arial" panose="020B0604020202090204"/>
              </a:rPr>
              <a:t>feature/r2-worker   ·   Snapshot 41585d9   ·   30 October 2026</a:t>
            </a:r>
            <a:endParaRPr sz="1350"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Project scope at midterm</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02</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716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User need</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095500"/>
            <a:ext cx="4714875" cy="1285875"/>
          </a:xfrm>
          <a:prstGeom prst="rect">
            <a:avLst/>
          </a:prstGeom>
          <a:noFill/>
          <a:ln w="0">
            <a:noFill/>
          </a:ln>
        </p:spPr>
        <p:txBody>
          <a:bodyPr anchor="t"/>
          <a:lstStyle>
            <a:defPPr>
              <a:defRPr sz="2175" b="0">
                <a:solidFill>
                  <a:srgbClr val="000000"/>
                </a:solidFill>
                <a:latin typeface="Arial" panose="020B0604020202090204"/>
                <a:ea typeface="Arial" panose="020B0604020202090204"/>
                <a:cs typeface="Arial" panose="020B0604020202090204"/>
              </a:defRPr>
            </a:defPPr>
            <a:lvl1pPr>
              <a:defRPr sz="2175" b="0">
                <a:solidFill>
                  <a:srgbClr val="000000"/>
                </a:solidFill>
                <a:latin typeface="Arial" panose="020B0604020202090204"/>
                <a:ea typeface="Arial" panose="020B0604020202090204"/>
                <a:cs typeface="Arial" panose="020B0604020202090204"/>
              </a:defRPr>
            </a:lvl1pPr>
            <a:lvl2pPr>
              <a:defRPr sz="2175" b="0">
                <a:solidFill>
                  <a:srgbClr val="000000"/>
                </a:solidFill>
                <a:latin typeface="Arial" panose="020B0604020202090204"/>
                <a:ea typeface="Arial" panose="020B0604020202090204"/>
                <a:cs typeface="Arial" panose="020B0604020202090204"/>
              </a:defRPr>
            </a:lvl2pPr>
            <a:lvl3pPr>
              <a:defRPr sz="2175" b="0">
                <a:solidFill>
                  <a:srgbClr val="000000"/>
                </a:solidFill>
                <a:latin typeface="Arial" panose="020B0604020202090204"/>
                <a:ea typeface="Arial" panose="020B0604020202090204"/>
                <a:cs typeface="Arial" panose="020B0604020202090204"/>
              </a:defRPr>
            </a:lvl3pPr>
            <a:lvl4pPr>
              <a:defRPr sz="2175" b="0">
                <a:solidFill>
                  <a:srgbClr val="000000"/>
                </a:solidFill>
                <a:latin typeface="Arial" panose="020B0604020202090204"/>
                <a:ea typeface="Arial" panose="020B0604020202090204"/>
                <a:cs typeface="Arial" panose="020B0604020202090204"/>
              </a:defRPr>
            </a:lvl4pPr>
            <a:lvl5pPr>
              <a:defRPr sz="2175" b="0">
                <a:solidFill>
                  <a:srgbClr val="000000"/>
                </a:solidFill>
                <a:latin typeface="Arial" panose="020B0604020202090204"/>
                <a:ea typeface="Arial" panose="020B0604020202090204"/>
                <a:cs typeface="Arial" panose="020B0604020202090204"/>
              </a:defRPr>
            </a:lvl5pPr>
            <a:lvl6pPr>
              <a:defRPr sz="2175" b="0">
                <a:solidFill>
                  <a:srgbClr val="000000"/>
                </a:solidFill>
                <a:latin typeface="Arial" panose="020B0604020202090204"/>
                <a:ea typeface="Arial" panose="020B0604020202090204"/>
                <a:cs typeface="Arial" panose="020B0604020202090204"/>
              </a:defRPr>
            </a:lvl6pPr>
            <a:lvl7pPr>
              <a:defRPr sz="2175" b="0">
                <a:solidFill>
                  <a:srgbClr val="000000"/>
                </a:solidFill>
                <a:latin typeface="Arial" panose="020B0604020202090204"/>
                <a:ea typeface="Arial" panose="020B0604020202090204"/>
                <a:cs typeface="Arial" panose="020B0604020202090204"/>
              </a:defRPr>
            </a:lvl7pPr>
            <a:lvl8pPr>
              <a:defRPr sz="2175" b="0">
                <a:solidFill>
                  <a:srgbClr val="000000"/>
                </a:solidFill>
                <a:latin typeface="Arial" panose="020B0604020202090204"/>
                <a:ea typeface="Arial" panose="020B0604020202090204"/>
                <a:cs typeface="Arial" panose="020B0604020202090204"/>
              </a:defRPr>
            </a:lvl8pPr>
            <a:lvl9pPr>
              <a:defRPr sz="2175" b="0">
                <a:solidFill>
                  <a:srgbClr val="000000"/>
                </a:solidFill>
                <a:latin typeface="Arial" panose="020B0604020202090204"/>
                <a:ea typeface="Arial" panose="020B0604020202090204"/>
                <a:cs typeface="Arial" panose="020B0604020202090204"/>
              </a:defRPr>
            </a:lvl9pPr>
          </a:lstStyle>
          <a:p>
            <a:pPr>
              <a:defRPr sz="2175" b="0">
                <a:solidFill>
                  <a:srgbClr val="000000"/>
                </a:solidFill>
                <a:latin typeface="Arial" panose="020B0604020202090204"/>
                <a:ea typeface="Arial" panose="020B0604020202090204"/>
                <a:cs typeface="Arial" panose="020B0604020202090204"/>
              </a:defRPr>
            </a:pPr>
            <a:r>
              <a:rPr sz="2175" b="0">
                <a:solidFill>
                  <a:srgbClr val="000000"/>
                </a:solidFill>
                <a:latin typeface="Arial" panose="020B0604020202090204"/>
                <a:ea typeface="Arial" panose="020B0604020202090204"/>
                <a:cs typeface="Arial" panose="020B0604020202090204"/>
              </a:rPr>
              <a:t>Staff need a way to organise product reviews and trace each detected issue back to the original wording.</a:t>
            </a:r>
            <a:endParaRPr sz="2175"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191250" y="15716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Working today</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191250" y="2095500"/>
            <a:ext cx="4667250" cy="1476375"/>
          </a:xfrm>
          <a:prstGeom prst="rect">
            <a:avLst/>
          </a:prstGeom>
          <a:noFill/>
          <a:ln w="0">
            <a:noFill/>
          </a:ln>
        </p:spPr>
        <p:txBody>
          <a:bodyPr anchor="t"/>
          <a:lstStyle>
            <a:defPPr>
              <a:defRPr sz="2025" b="0">
                <a:solidFill>
                  <a:srgbClr val="000000"/>
                </a:solidFill>
                <a:latin typeface="Arial" panose="020B0604020202090204"/>
                <a:ea typeface="Arial" panose="020B0604020202090204"/>
                <a:cs typeface="Arial" panose="020B0604020202090204"/>
              </a:defRPr>
            </a:defPPr>
            <a:lvl1pPr>
              <a:defRPr sz="2025" b="0">
                <a:solidFill>
                  <a:srgbClr val="000000"/>
                </a:solidFill>
                <a:latin typeface="Arial" panose="020B0604020202090204"/>
                <a:ea typeface="Arial" panose="020B0604020202090204"/>
                <a:cs typeface="Arial" panose="020B0604020202090204"/>
              </a:defRPr>
            </a:lvl1pPr>
            <a:lvl2pPr>
              <a:defRPr sz="2025" b="0">
                <a:solidFill>
                  <a:srgbClr val="000000"/>
                </a:solidFill>
                <a:latin typeface="Arial" panose="020B0604020202090204"/>
                <a:ea typeface="Arial" panose="020B0604020202090204"/>
                <a:cs typeface="Arial" panose="020B0604020202090204"/>
              </a:defRPr>
            </a:lvl2pPr>
            <a:lvl3pPr>
              <a:defRPr sz="2025" b="0">
                <a:solidFill>
                  <a:srgbClr val="000000"/>
                </a:solidFill>
                <a:latin typeface="Arial" panose="020B0604020202090204"/>
                <a:ea typeface="Arial" panose="020B0604020202090204"/>
                <a:cs typeface="Arial" panose="020B0604020202090204"/>
              </a:defRPr>
            </a:lvl3pPr>
            <a:lvl4pPr>
              <a:defRPr sz="2025" b="0">
                <a:solidFill>
                  <a:srgbClr val="000000"/>
                </a:solidFill>
                <a:latin typeface="Arial" panose="020B0604020202090204"/>
                <a:ea typeface="Arial" panose="020B0604020202090204"/>
                <a:cs typeface="Arial" panose="020B0604020202090204"/>
              </a:defRPr>
            </a:lvl4pPr>
            <a:lvl5pPr>
              <a:defRPr sz="2025" b="0">
                <a:solidFill>
                  <a:srgbClr val="000000"/>
                </a:solidFill>
                <a:latin typeface="Arial" panose="020B0604020202090204"/>
                <a:ea typeface="Arial" panose="020B0604020202090204"/>
                <a:cs typeface="Arial" panose="020B0604020202090204"/>
              </a:defRPr>
            </a:lvl5pPr>
            <a:lvl6pPr>
              <a:defRPr sz="2025" b="0">
                <a:solidFill>
                  <a:srgbClr val="000000"/>
                </a:solidFill>
                <a:latin typeface="Arial" panose="020B0604020202090204"/>
                <a:ea typeface="Arial" panose="020B0604020202090204"/>
                <a:cs typeface="Arial" panose="020B0604020202090204"/>
              </a:defRPr>
            </a:lvl6pPr>
            <a:lvl7pPr>
              <a:defRPr sz="2025" b="0">
                <a:solidFill>
                  <a:srgbClr val="000000"/>
                </a:solidFill>
                <a:latin typeface="Arial" panose="020B0604020202090204"/>
                <a:ea typeface="Arial" panose="020B0604020202090204"/>
                <a:cs typeface="Arial" panose="020B0604020202090204"/>
              </a:defRPr>
            </a:lvl7pPr>
            <a:lvl8pPr>
              <a:defRPr sz="2025" b="0">
                <a:solidFill>
                  <a:srgbClr val="000000"/>
                </a:solidFill>
                <a:latin typeface="Arial" panose="020B0604020202090204"/>
                <a:ea typeface="Arial" panose="020B0604020202090204"/>
                <a:cs typeface="Arial" panose="020B0604020202090204"/>
              </a:defRPr>
            </a:lvl8pPr>
            <a:lvl9pPr>
              <a:defRPr sz="2025" b="0">
                <a:solidFill>
                  <a:srgbClr val="000000"/>
                </a:solidFill>
                <a:latin typeface="Arial" panose="020B0604020202090204"/>
                <a:ea typeface="Arial" panose="020B0604020202090204"/>
                <a:cs typeface="Arial" panose="020B0604020202090204"/>
              </a:defRPr>
            </a:lvl9pPr>
          </a:lstStyle>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The separate bilingual demo calls the real ingestion API, Worker and rule service, then reads saved results from PostgreSQL.</a:t>
            </a:r>
            <a:endParaRPr sz="2025" b="0">
              <a:solidFill>
                <a:srgbClr val="000000"/>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09600" y="400050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Current product boundary</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09600" y="4524375"/>
            <a:ext cx="10096500" cy="1000125"/>
          </a:xfrm>
          <a:prstGeom prst="rect">
            <a:avLst/>
          </a:prstGeom>
          <a:noFill/>
          <a:ln w="0">
            <a:noFill/>
          </a:ln>
        </p:spPr>
        <p:txBody>
          <a:bodyPr anchor="t"/>
          <a:lstStyle>
            <a:defPPr>
              <a:defRPr sz="2025" b="0">
                <a:solidFill>
                  <a:srgbClr val="000000"/>
                </a:solidFill>
                <a:latin typeface="Arial" panose="020B0604020202090204"/>
                <a:ea typeface="Arial" panose="020B0604020202090204"/>
                <a:cs typeface="Arial" panose="020B0604020202090204"/>
              </a:defRPr>
            </a:defPPr>
            <a:lvl1pPr>
              <a:defRPr sz="2025" b="0">
                <a:solidFill>
                  <a:srgbClr val="000000"/>
                </a:solidFill>
                <a:latin typeface="Arial" panose="020B0604020202090204"/>
                <a:ea typeface="Arial" panose="020B0604020202090204"/>
                <a:cs typeface="Arial" panose="020B0604020202090204"/>
              </a:defRPr>
            </a:lvl1pPr>
            <a:lvl2pPr>
              <a:defRPr sz="2025" b="0">
                <a:solidFill>
                  <a:srgbClr val="000000"/>
                </a:solidFill>
                <a:latin typeface="Arial" panose="020B0604020202090204"/>
                <a:ea typeface="Arial" panose="020B0604020202090204"/>
                <a:cs typeface="Arial" panose="020B0604020202090204"/>
              </a:defRPr>
            </a:lvl2pPr>
            <a:lvl3pPr>
              <a:defRPr sz="2025" b="0">
                <a:solidFill>
                  <a:srgbClr val="000000"/>
                </a:solidFill>
                <a:latin typeface="Arial" panose="020B0604020202090204"/>
                <a:ea typeface="Arial" panose="020B0604020202090204"/>
                <a:cs typeface="Arial" panose="020B0604020202090204"/>
              </a:defRPr>
            </a:lvl3pPr>
            <a:lvl4pPr>
              <a:defRPr sz="2025" b="0">
                <a:solidFill>
                  <a:srgbClr val="000000"/>
                </a:solidFill>
                <a:latin typeface="Arial" panose="020B0604020202090204"/>
                <a:ea typeface="Arial" panose="020B0604020202090204"/>
                <a:cs typeface="Arial" panose="020B0604020202090204"/>
              </a:defRPr>
            </a:lvl4pPr>
            <a:lvl5pPr>
              <a:defRPr sz="2025" b="0">
                <a:solidFill>
                  <a:srgbClr val="000000"/>
                </a:solidFill>
                <a:latin typeface="Arial" panose="020B0604020202090204"/>
                <a:ea typeface="Arial" panose="020B0604020202090204"/>
                <a:cs typeface="Arial" panose="020B0604020202090204"/>
              </a:defRPr>
            </a:lvl5pPr>
            <a:lvl6pPr>
              <a:defRPr sz="2025" b="0">
                <a:solidFill>
                  <a:srgbClr val="000000"/>
                </a:solidFill>
                <a:latin typeface="Arial" panose="020B0604020202090204"/>
                <a:ea typeface="Arial" panose="020B0604020202090204"/>
                <a:cs typeface="Arial" panose="020B0604020202090204"/>
              </a:defRPr>
            </a:lvl6pPr>
            <a:lvl7pPr>
              <a:defRPr sz="2025" b="0">
                <a:solidFill>
                  <a:srgbClr val="000000"/>
                </a:solidFill>
                <a:latin typeface="Arial" panose="020B0604020202090204"/>
                <a:ea typeface="Arial" panose="020B0604020202090204"/>
                <a:cs typeface="Arial" panose="020B0604020202090204"/>
              </a:defRPr>
            </a:lvl7pPr>
            <a:lvl8pPr>
              <a:defRPr sz="2025" b="0">
                <a:solidFill>
                  <a:srgbClr val="000000"/>
                </a:solidFill>
                <a:latin typeface="Arial" panose="020B0604020202090204"/>
                <a:ea typeface="Arial" panose="020B0604020202090204"/>
                <a:cs typeface="Arial" panose="020B0604020202090204"/>
              </a:defRPr>
            </a:lvl8pPr>
            <a:lvl9pPr>
              <a:defRPr sz="2025" b="0">
                <a:solidFill>
                  <a:srgbClr val="000000"/>
                </a:solidFill>
                <a:latin typeface="Arial" panose="020B0604020202090204"/>
                <a:ea typeface="Arial" panose="020B0604020202090204"/>
                <a:cs typeface="Arial" panose="020B0604020202090204"/>
              </a:defRPr>
            </a:lvl9pPr>
          </a:lstStyle>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Rule extraction and category grouping are available. LLM analysis, semantic grouping and staff review actions remain in development.</a:t>
            </a:r>
            <a:endParaRPr sz="202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The required system path</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03</a:t>
            </a:r>
            <a:endParaRPr sz="1200" b="0">
              <a:solidFill>
                <a:srgbClr val="000000"/>
              </a:solidFill>
              <a:latin typeface="Arial" panose="020B0604020202090204"/>
              <a:ea typeface="Arial" panose="020B0604020202090204"/>
              <a:cs typeface="Arial" panose="020B0604020202090204"/>
            </a:endParaRPr>
          </a:p>
        </p:txBody>
      </p:sp>
      <p:graphicFrame>
        <p:nvGraphicFramePr>
          <p:cNvPr id="5" name="表格 4"/>
          <p:cNvGraphicFramePr/>
          <p:nvPr/>
        </p:nvGraphicFramePr>
        <p:xfrm>
          <a:off x="609600" y="1619250"/>
          <a:ext cx="10287000" cy="3714750"/>
        </p:xfrm>
        <a:graphic>
          <a:graphicData uri="http://schemas.openxmlformats.org/drawingml/2006/table">
            <a:tbl>
              <a:tblPr/>
              <a:tblGrid>
                <a:gridCol w="3429000"/>
                <a:gridCol w="3429000"/>
                <a:gridCol w="3429000"/>
              </a:tblGrid>
              <a:tr h="619125">
                <a:tc>
                  <a:txBody>
                    <a:bodyPr/>
                    <a:lstStyle/>
                    <a:p>
                      <a:r>
                        <a:rPr sz="1800" b="1">
                          <a:solidFill>
                            <a:srgbClr val="000000"/>
                          </a:solidFill>
                          <a:latin typeface="Arial" panose="020B0604020202090204"/>
                          <a:ea typeface="Arial" panose="020B0604020202090204"/>
                          <a:cs typeface="Arial" panose="020B0604020202090204"/>
                        </a:rPr>
                        <a:t>Requirement</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c>
                  <a:txBody>
                    <a:bodyPr/>
                    <a:lstStyle/>
                    <a:p>
                      <a:r>
                        <a:rPr sz="1800" b="1">
                          <a:solidFill>
                            <a:srgbClr val="000000"/>
                          </a:solidFill>
                          <a:latin typeface="Arial" panose="020B0604020202090204"/>
                          <a:ea typeface="Arial" panose="020B0604020202090204"/>
                          <a:cs typeface="Arial" panose="020B0604020202090204"/>
                        </a:rPr>
                        <a:t>System evidence</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c>
                  <a:txBody>
                    <a:bodyPr/>
                    <a:lstStyle/>
                    <a:p>
                      <a:r>
                        <a:rPr sz="1800" b="1">
                          <a:solidFill>
                            <a:srgbClr val="000000"/>
                          </a:solidFill>
                          <a:latin typeface="Arial" panose="020B0604020202090204"/>
                          <a:ea typeface="Arial" panose="020B0604020202090204"/>
                          <a:cs typeface="Arial" panose="020B0604020202090204"/>
                        </a:rPr>
                        <a:t>Where to inspect</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r>
              <a:tr h="619125">
                <a:tc>
                  <a:txBody>
                    <a:bodyPr/>
                    <a:lstStyle/>
                    <a:p>
                      <a:r>
                        <a:rPr sz="1725">
                          <a:solidFill>
                            <a:srgbClr val="000000"/>
                          </a:solidFill>
                          <a:latin typeface="Arial" panose="020B0604020202090204"/>
                          <a:ea typeface="Arial" panose="020B0604020202090204"/>
                          <a:cs typeface="Arial" panose="020B0604020202090204"/>
                        </a:rPr>
                        <a:t>1  Input</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Review submitted through the demo</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/lesson/import</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2  Saved state</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Comment + pending job in PostgreSQL</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Comment / Job</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3  Async step</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Separate Worker calls analysis over HTTP</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process_job(claim)</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4  Saved output</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Result, issue evidence and analysis history</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AnalysisRun / CommentIssue</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5  Operational signal</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Attempts, status, logs and metrics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/lesson/state + metrics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bl>
          </a:graphicData>
        </a:graphic>
      </p:graphicFrame>
      <p:sp>
        <p:nvSpPr>
          <p:cNvPr id="6" name="矩形 5"/>
          <p:cNvSpPr>
            <a:spLocks noGrp="1"/>
          </p:cNvSpPr>
          <p:nvPr/>
        </p:nvSpPr>
        <p:spPr>
          <a:xfrm>
            <a:off x="609600" y="5619750"/>
            <a:ext cx="10287000" cy="476250"/>
          </a:xfrm>
          <a:prstGeom prst="rect">
            <a:avLst/>
          </a:prstGeom>
          <a:noFill/>
          <a:ln w="0">
            <a:noFill/>
          </a:ln>
        </p:spPr>
        <p:txBody>
          <a:bodyPr anchor="t"/>
          <a:lstStyle>
            <a:defPPr>
              <a:defRPr sz="1725" b="0">
                <a:solidFill>
                  <a:srgbClr val="000000"/>
                </a:solidFill>
                <a:latin typeface="Arial" panose="020B0604020202090204"/>
                <a:ea typeface="Arial" panose="020B0604020202090204"/>
                <a:cs typeface="Arial" panose="020B0604020202090204"/>
              </a:defRPr>
            </a:defPPr>
            <a:lvl1pPr>
              <a:defRPr sz="1725" b="0">
                <a:solidFill>
                  <a:srgbClr val="000000"/>
                </a:solidFill>
                <a:latin typeface="Arial" panose="020B0604020202090204"/>
                <a:ea typeface="Arial" panose="020B0604020202090204"/>
                <a:cs typeface="Arial" panose="020B0604020202090204"/>
              </a:defRPr>
            </a:lvl1pPr>
            <a:lvl2pPr>
              <a:defRPr sz="1725" b="0">
                <a:solidFill>
                  <a:srgbClr val="000000"/>
                </a:solidFill>
                <a:latin typeface="Arial" panose="020B0604020202090204"/>
                <a:ea typeface="Arial" panose="020B0604020202090204"/>
                <a:cs typeface="Arial" panose="020B0604020202090204"/>
              </a:defRPr>
            </a:lvl2pPr>
            <a:lvl3pPr>
              <a:defRPr sz="1725" b="0">
                <a:solidFill>
                  <a:srgbClr val="000000"/>
                </a:solidFill>
                <a:latin typeface="Arial" panose="020B0604020202090204"/>
                <a:ea typeface="Arial" panose="020B0604020202090204"/>
                <a:cs typeface="Arial" panose="020B0604020202090204"/>
              </a:defRPr>
            </a:lvl3pPr>
            <a:lvl4pPr>
              <a:defRPr sz="1725" b="0">
                <a:solidFill>
                  <a:srgbClr val="000000"/>
                </a:solidFill>
                <a:latin typeface="Arial" panose="020B0604020202090204"/>
                <a:ea typeface="Arial" panose="020B0604020202090204"/>
                <a:cs typeface="Arial" panose="020B0604020202090204"/>
              </a:defRPr>
            </a:lvl4pPr>
            <a:lvl5pPr>
              <a:defRPr sz="1725" b="0">
                <a:solidFill>
                  <a:srgbClr val="000000"/>
                </a:solidFill>
                <a:latin typeface="Arial" panose="020B0604020202090204"/>
                <a:ea typeface="Arial" panose="020B0604020202090204"/>
                <a:cs typeface="Arial" panose="020B0604020202090204"/>
              </a:defRPr>
            </a:lvl5pPr>
            <a:lvl6pPr>
              <a:defRPr sz="1725" b="0">
                <a:solidFill>
                  <a:srgbClr val="000000"/>
                </a:solidFill>
                <a:latin typeface="Arial" panose="020B0604020202090204"/>
                <a:ea typeface="Arial" panose="020B0604020202090204"/>
                <a:cs typeface="Arial" panose="020B0604020202090204"/>
              </a:defRPr>
            </a:lvl6pPr>
            <a:lvl7pPr>
              <a:defRPr sz="1725" b="0">
                <a:solidFill>
                  <a:srgbClr val="000000"/>
                </a:solidFill>
                <a:latin typeface="Arial" panose="020B0604020202090204"/>
                <a:ea typeface="Arial" panose="020B0604020202090204"/>
                <a:cs typeface="Arial" panose="020B0604020202090204"/>
              </a:defRPr>
            </a:lvl7pPr>
            <a:lvl8pPr>
              <a:defRPr sz="1725" b="0">
                <a:solidFill>
                  <a:srgbClr val="000000"/>
                </a:solidFill>
                <a:latin typeface="Arial" panose="020B0604020202090204"/>
                <a:ea typeface="Arial" panose="020B0604020202090204"/>
                <a:cs typeface="Arial" panose="020B0604020202090204"/>
              </a:defRPr>
            </a:lvl8pPr>
            <a:lvl9pPr>
              <a:defRPr sz="1725" b="0">
                <a:solidFill>
                  <a:srgbClr val="000000"/>
                </a:solidFill>
                <a:latin typeface="Arial" panose="020B0604020202090204"/>
                <a:ea typeface="Arial" panose="020B0604020202090204"/>
                <a:cs typeface="Arial" panose="020B0604020202090204"/>
              </a:defRPr>
            </a:lvl9pPr>
          </a:lstStyle>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Evidence combines repository code, the saved result screenshot and documented verification runs.</a:t>
            </a:r>
            <a:endParaRPr sz="172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1  Review input</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04</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2400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English demo</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095500"/>
            <a:ext cx="4572000" cy="1428750"/>
          </a:xfrm>
          <a:prstGeom prst="rect">
            <a:avLst/>
          </a:prstGeom>
          <a:noFill/>
          <a:ln w="0">
            <a:noFill/>
          </a:ln>
        </p:spPr>
        <p:txBody>
          <a:bodyPr anchor="t"/>
          <a:lstStyle>
            <a:defPPr>
              <a:defRPr sz="2100" b="0">
                <a:solidFill>
                  <a:srgbClr val="000000"/>
                </a:solidFill>
                <a:latin typeface="Arial" panose="020B0604020202090204"/>
                <a:ea typeface="Arial" panose="020B0604020202090204"/>
                <a:cs typeface="Arial" panose="020B0604020202090204"/>
              </a:defRPr>
            </a:defPPr>
            <a:lvl1pPr>
              <a:defRPr sz="2100" b="0">
                <a:solidFill>
                  <a:srgbClr val="000000"/>
                </a:solidFill>
                <a:latin typeface="Arial" panose="020B0604020202090204"/>
                <a:ea typeface="Arial" panose="020B0604020202090204"/>
                <a:cs typeface="Arial" panose="020B0604020202090204"/>
              </a:defRPr>
            </a:lvl1pPr>
            <a:lvl2pPr>
              <a:defRPr sz="2100" b="0">
                <a:solidFill>
                  <a:srgbClr val="000000"/>
                </a:solidFill>
                <a:latin typeface="Arial" panose="020B0604020202090204"/>
                <a:ea typeface="Arial" panose="020B0604020202090204"/>
                <a:cs typeface="Arial" panose="020B0604020202090204"/>
              </a:defRPr>
            </a:lvl2pPr>
            <a:lvl3pPr>
              <a:defRPr sz="2100" b="0">
                <a:solidFill>
                  <a:srgbClr val="000000"/>
                </a:solidFill>
                <a:latin typeface="Arial" panose="020B0604020202090204"/>
                <a:ea typeface="Arial" panose="020B0604020202090204"/>
                <a:cs typeface="Arial" panose="020B0604020202090204"/>
              </a:defRPr>
            </a:lvl3pPr>
            <a:lvl4pPr>
              <a:defRPr sz="2100" b="0">
                <a:solidFill>
                  <a:srgbClr val="000000"/>
                </a:solidFill>
                <a:latin typeface="Arial" panose="020B0604020202090204"/>
                <a:ea typeface="Arial" panose="020B0604020202090204"/>
                <a:cs typeface="Arial" panose="020B0604020202090204"/>
              </a:defRPr>
            </a:lvl4pPr>
            <a:lvl5pPr>
              <a:defRPr sz="2100" b="0">
                <a:solidFill>
                  <a:srgbClr val="000000"/>
                </a:solidFill>
                <a:latin typeface="Arial" panose="020B0604020202090204"/>
                <a:ea typeface="Arial" panose="020B0604020202090204"/>
                <a:cs typeface="Arial" panose="020B0604020202090204"/>
              </a:defRPr>
            </a:lvl5pPr>
            <a:lvl6pPr>
              <a:defRPr sz="2100" b="0">
                <a:solidFill>
                  <a:srgbClr val="000000"/>
                </a:solidFill>
                <a:latin typeface="Arial" panose="020B0604020202090204"/>
                <a:ea typeface="Arial" panose="020B0604020202090204"/>
                <a:cs typeface="Arial" panose="020B0604020202090204"/>
              </a:defRPr>
            </a:lvl6pPr>
            <a:lvl7pPr>
              <a:defRPr sz="2100" b="0">
                <a:solidFill>
                  <a:srgbClr val="000000"/>
                </a:solidFill>
                <a:latin typeface="Arial" panose="020B0604020202090204"/>
                <a:ea typeface="Arial" panose="020B0604020202090204"/>
                <a:cs typeface="Arial" panose="020B0604020202090204"/>
              </a:defRPr>
            </a:lvl7pPr>
            <a:lvl8pPr>
              <a:defRPr sz="2100" b="0">
                <a:solidFill>
                  <a:srgbClr val="000000"/>
                </a:solidFill>
                <a:latin typeface="Arial" panose="020B0604020202090204"/>
                <a:ea typeface="Arial" panose="020B0604020202090204"/>
                <a:cs typeface="Arial" panose="020B0604020202090204"/>
              </a:defRPr>
            </a:lvl8pPr>
            <a:lvl9pPr>
              <a:defRPr sz="2100" b="0">
                <a:solidFill>
                  <a:srgbClr val="000000"/>
                </a:solidFill>
                <a:latin typeface="Arial" panose="020B0604020202090204"/>
                <a:ea typeface="Arial" panose="020B0604020202090204"/>
                <a:cs typeface="Arial" panose="020B0604020202090204"/>
              </a:defRPr>
            </a:lvl9pPr>
          </a:lstStyle>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Open localhost:18717/en</a:t>
            </a:r>
            <a:endParaRPr sz="2100" b="0">
              <a:solidFill>
                <a:srgbClr val="000000"/>
              </a:solidFill>
              <a:latin typeface="Arial" panose="020B0604020202090204"/>
              <a:ea typeface="Arial" panose="020B0604020202090204"/>
              <a:cs typeface="Arial" panose="020B0604020202090204"/>
            </a:endParaRPr>
          </a:p>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Select “Normal analysis”</a:t>
            </a:r>
            <a:endParaRPr sz="2100" b="0">
              <a:solidFill>
                <a:srgbClr val="000000"/>
              </a:solidFill>
              <a:latin typeface="Arial" panose="020B0604020202090204"/>
              <a:ea typeface="Arial" panose="020B0604020202090204"/>
              <a:cs typeface="Arial" panose="020B0604020202090204"/>
            </a:endParaRPr>
          </a:p>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Click “1. Submit review”</a:t>
            </a:r>
            <a:endParaRPr sz="2100"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5905500" y="152400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Request used by the demo</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905500" y="2095500"/>
            <a:ext cx="5048250" cy="2047875"/>
          </a:xfrm>
          <a:prstGeom prst="rect">
            <a:avLst/>
          </a:prstGeom>
          <a:noFill/>
          <a:ln w="0">
            <a:noFill/>
          </a:ln>
        </p:spPr>
        <p:txBody>
          <a:bodyPr anchor="t"/>
          <a:lstStyle>
            <a:defPPr>
              <a:defRPr sz="1575" b="1">
                <a:solidFill>
                  <a:srgbClr val="000000"/>
                </a:solidFill>
                <a:latin typeface="Courier New" panose="02070409020205090404"/>
                <a:ea typeface="Courier New" panose="02070409020205090404"/>
                <a:cs typeface="Courier New" panose="02070409020205090404"/>
              </a:defRPr>
            </a:defPPr>
            <a:lvl1pPr>
              <a:defRPr sz="1575" b="1">
                <a:solidFill>
                  <a:srgbClr val="000000"/>
                </a:solidFill>
                <a:latin typeface="Courier New" panose="02070409020205090404"/>
                <a:ea typeface="Courier New" panose="02070409020205090404"/>
                <a:cs typeface="Courier New" panose="02070409020205090404"/>
              </a:defRPr>
            </a:lvl1pPr>
            <a:lvl2pPr>
              <a:defRPr sz="1575" b="1">
                <a:solidFill>
                  <a:srgbClr val="000000"/>
                </a:solidFill>
                <a:latin typeface="Courier New" panose="02070409020205090404"/>
                <a:ea typeface="Courier New" panose="02070409020205090404"/>
                <a:cs typeface="Courier New" panose="02070409020205090404"/>
              </a:defRPr>
            </a:lvl2pPr>
            <a:lvl3pPr>
              <a:defRPr sz="1575" b="1">
                <a:solidFill>
                  <a:srgbClr val="000000"/>
                </a:solidFill>
                <a:latin typeface="Courier New" panose="02070409020205090404"/>
                <a:ea typeface="Courier New" panose="02070409020205090404"/>
                <a:cs typeface="Courier New" panose="02070409020205090404"/>
              </a:defRPr>
            </a:lvl3pPr>
            <a:lvl4pPr>
              <a:defRPr sz="1575" b="1">
                <a:solidFill>
                  <a:srgbClr val="000000"/>
                </a:solidFill>
                <a:latin typeface="Courier New" panose="02070409020205090404"/>
                <a:ea typeface="Courier New" panose="02070409020205090404"/>
                <a:cs typeface="Courier New" panose="02070409020205090404"/>
              </a:defRPr>
            </a:lvl4pPr>
            <a:lvl5pPr>
              <a:defRPr sz="1575" b="1">
                <a:solidFill>
                  <a:srgbClr val="000000"/>
                </a:solidFill>
                <a:latin typeface="Courier New" panose="02070409020205090404"/>
                <a:ea typeface="Courier New" panose="02070409020205090404"/>
                <a:cs typeface="Courier New" panose="02070409020205090404"/>
              </a:defRPr>
            </a:lvl5pPr>
            <a:lvl6pPr>
              <a:defRPr sz="1575" b="1">
                <a:solidFill>
                  <a:srgbClr val="000000"/>
                </a:solidFill>
                <a:latin typeface="Courier New" panose="02070409020205090404"/>
                <a:ea typeface="Courier New" panose="02070409020205090404"/>
                <a:cs typeface="Courier New" panose="02070409020205090404"/>
              </a:defRPr>
            </a:lvl6pPr>
            <a:lvl7pPr>
              <a:defRPr sz="1575" b="1">
                <a:solidFill>
                  <a:srgbClr val="000000"/>
                </a:solidFill>
                <a:latin typeface="Courier New" panose="02070409020205090404"/>
                <a:ea typeface="Courier New" panose="02070409020205090404"/>
                <a:cs typeface="Courier New" panose="02070409020205090404"/>
              </a:defRPr>
            </a:lvl7pPr>
            <a:lvl8pPr>
              <a:defRPr sz="1575" b="1">
                <a:solidFill>
                  <a:srgbClr val="000000"/>
                </a:solidFill>
                <a:latin typeface="Courier New" panose="02070409020205090404"/>
                <a:ea typeface="Courier New" panose="02070409020205090404"/>
                <a:cs typeface="Courier New" panose="02070409020205090404"/>
              </a:defRPr>
            </a:lvl8pPr>
            <a:lvl9pPr>
              <a:defRPr sz="1575" b="1">
                <a:solidFill>
                  <a:srgbClr val="000000"/>
                </a:solidFill>
                <a:latin typeface="Courier New" panose="02070409020205090404"/>
                <a:ea typeface="Courier New" panose="02070409020205090404"/>
                <a:cs typeface="Courier New" panose="02070409020205090404"/>
              </a:defRPr>
            </a:lvl9pPr>
          </a:lstStyle>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POST /lesson/import</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Courier New" panose="02070409020205090404"/>
                <a:ea typeface="Courier New" panose="02070409020205090404"/>
                <a:cs typeface="Courier New" panose="02070409020205090404"/>
              </a:defRPr>
            </a:p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  "body":</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    "The zipper gets stuck halfway.",</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  "scenario": "normal"</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a:t>
            </a:r>
            <a:endParaRPr sz="1575" b="1">
              <a:solidFill>
                <a:srgbClr val="000000"/>
              </a:solidFill>
              <a:latin typeface="Courier New" panose="02070409020205090404"/>
              <a:ea typeface="Courier New" panose="02070409020205090404"/>
              <a:cs typeface="Courier New" panose="02070409020205090404"/>
            </a:endParaRPr>
          </a:p>
        </p:txBody>
      </p:sp>
      <p:sp>
        <p:nvSpPr>
          <p:cNvPr id="9" name="矩形 8"/>
          <p:cNvSpPr>
            <a:spLocks noGrp="1"/>
          </p:cNvSpPr>
          <p:nvPr/>
        </p:nvSpPr>
        <p:spPr>
          <a:xfrm>
            <a:off x="609600" y="4286250"/>
            <a:ext cx="100012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Actual backend integration</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09600" y="4810125"/>
            <a:ext cx="10287000" cy="952500"/>
          </a:xfrm>
          <a:prstGeom prst="rect">
            <a:avLst/>
          </a:prstGeom>
          <a:noFill/>
          <a:ln w="0">
            <a:noFill/>
          </a:ln>
        </p:spPr>
        <p:txBody>
          <a:bodyPr anchor="t"/>
          <a:lstStyle>
            <a:defPPr>
              <a:defRPr sz="2025" b="0">
                <a:solidFill>
                  <a:srgbClr val="000000"/>
                </a:solidFill>
                <a:latin typeface="Arial" panose="020B0604020202090204"/>
                <a:ea typeface="Arial" panose="020B0604020202090204"/>
                <a:cs typeface="Arial" panose="020B0604020202090204"/>
              </a:defRPr>
            </a:defPPr>
            <a:lvl1pPr>
              <a:defRPr sz="2025" b="0">
                <a:solidFill>
                  <a:srgbClr val="000000"/>
                </a:solidFill>
                <a:latin typeface="Arial" panose="020B0604020202090204"/>
                <a:ea typeface="Arial" panose="020B0604020202090204"/>
                <a:cs typeface="Arial" panose="020B0604020202090204"/>
              </a:defRPr>
            </a:lvl1pPr>
            <a:lvl2pPr>
              <a:defRPr sz="2025" b="0">
                <a:solidFill>
                  <a:srgbClr val="000000"/>
                </a:solidFill>
                <a:latin typeface="Arial" panose="020B0604020202090204"/>
                <a:ea typeface="Arial" panose="020B0604020202090204"/>
                <a:cs typeface="Arial" panose="020B0604020202090204"/>
              </a:defRPr>
            </a:lvl2pPr>
            <a:lvl3pPr>
              <a:defRPr sz="2025" b="0">
                <a:solidFill>
                  <a:srgbClr val="000000"/>
                </a:solidFill>
                <a:latin typeface="Arial" panose="020B0604020202090204"/>
                <a:ea typeface="Arial" panose="020B0604020202090204"/>
                <a:cs typeface="Arial" panose="020B0604020202090204"/>
              </a:defRPr>
            </a:lvl3pPr>
            <a:lvl4pPr>
              <a:defRPr sz="2025" b="0">
                <a:solidFill>
                  <a:srgbClr val="000000"/>
                </a:solidFill>
                <a:latin typeface="Arial" panose="020B0604020202090204"/>
                <a:ea typeface="Arial" panose="020B0604020202090204"/>
                <a:cs typeface="Arial" panose="020B0604020202090204"/>
              </a:defRPr>
            </a:lvl4pPr>
            <a:lvl5pPr>
              <a:defRPr sz="2025" b="0">
                <a:solidFill>
                  <a:srgbClr val="000000"/>
                </a:solidFill>
                <a:latin typeface="Arial" panose="020B0604020202090204"/>
                <a:ea typeface="Arial" panose="020B0604020202090204"/>
                <a:cs typeface="Arial" panose="020B0604020202090204"/>
              </a:defRPr>
            </a:lvl5pPr>
            <a:lvl6pPr>
              <a:defRPr sz="2025" b="0">
                <a:solidFill>
                  <a:srgbClr val="000000"/>
                </a:solidFill>
                <a:latin typeface="Arial" panose="020B0604020202090204"/>
                <a:ea typeface="Arial" panose="020B0604020202090204"/>
                <a:cs typeface="Arial" panose="020B0604020202090204"/>
              </a:defRPr>
            </a:lvl6pPr>
            <a:lvl7pPr>
              <a:defRPr sz="2025" b="0">
                <a:solidFill>
                  <a:srgbClr val="000000"/>
                </a:solidFill>
                <a:latin typeface="Arial" panose="020B0604020202090204"/>
                <a:ea typeface="Arial" panose="020B0604020202090204"/>
                <a:cs typeface="Arial" panose="020B0604020202090204"/>
              </a:defRPr>
            </a:lvl7pPr>
            <a:lvl8pPr>
              <a:defRPr sz="2025" b="0">
                <a:solidFill>
                  <a:srgbClr val="000000"/>
                </a:solidFill>
                <a:latin typeface="Arial" panose="020B0604020202090204"/>
                <a:ea typeface="Arial" panose="020B0604020202090204"/>
                <a:cs typeface="Arial" panose="020B0604020202090204"/>
              </a:defRPr>
            </a:lvl8pPr>
            <a:lvl9pPr>
              <a:defRPr sz="2025" b="0">
                <a:solidFill>
                  <a:srgbClr val="000000"/>
                </a:solidFill>
                <a:latin typeface="Arial" panose="020B0604020202090204"/>
                <a:ea typeface="Arial" panose="020B0604020202090204"/>
                <a:cs typeface="Arial" panose="020B0604020202090204"/>
              </a:defRPr>
            </a:lvl9pPr>
          </a:lstStyle>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The demo converts the review to CSV and calls POST /review-batches. The ingestion service saves the comment and its analysis job.</a:t>
            </a:r>
            <a:endParaRPr sz="202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2  A persisted state change</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05</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716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Before analysis</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143125"/>
            <a:ext cx="4381500" cy="1381125"/>
          </a:xfrm>
          <a:prstGeom prst="rect">
            <a:avLst/>
          </a:prstGeom>
          <a:noFill/>
          <a:ln w="0">
            <a:noFill/>
          </a:ln>
        </p:spPr>
        <p:txBody>
          <a:bodyPr anchor="t"/>
          <a:lstStyle>
            <a:defPPr>
              <a:defRPr sz="2400" b="0">
                <a:solidFill>
                  <a:srgbClr val="000000"/>
                </a:solidFill>
                <a:latin typeface="Arial" panose="020B0604020202090204"/>
                <a:ea typeface="Arial" panose="020B0604020202090204"/>
                <a:cs typeface="Arial" panose="020B0604020202090204"/>
              </a:defRPr>
            </a:defPPr>
            <a:lvl1pPr>
              <a:defRPr sz="2400" b="0">
                <a:solidFill>
                  <a:srgbClr val="000000"/>
                </a:solidFill>
                <a:latin typeface="Arial" panose="020B0604020202090204"/>
                <a:ea typeface="Arial" panose="020B0604020202090204"/>
                <a:cs typeface="Arial" panose="020B0604020202090204"/>
              </a:defRPr>
            </a:lvl1pPr>
            <a:lvl2pPr>
              <a:defRPr sz="2400" b="0">
                <a:solidFill>
                  <a:srgbClr val="000000"/>
                </a:solidFill>
                <a:latin typeface="Arial" panose="020B0604020202090204"/>
                <a:ea typeface="Arial" panose="020B0604020202090204"/>
                <a:cs typeface="Arial" panose="020B0604020202090204"/>
              </a:defRPr>
            </a:lvl2pPr>
            <a:lvl3pPr>
              <a:defRPr sz="2400" b="0">
                <a:solidFill>
                  <a:srgbClr val="000000"/>
                </a:solidFill>
                <a:latin typeface="Arial" panose="020B0604020202090204"/>
                <a:ea typeface="Arial" panose="020B0604020202090204"/>
                <a:cs typeface="Arial" panose="020B0604020202090204"/>
              </a:defRPr>
            </a:lvl3pPr>
            <a:lvl4pPr>
              <a:defRPr sz="2400" b="0">
                <a:solidFill>
                  <a:srgbClr val="000000"/>
                </a:solidFill>
                <a:latin typeface="Arial" panose="020B0604020202090204"/>
                <a:ea typeface="Arial" panose="020B0604020202090204"/>
                <a:cs typeface="Arial" panose="020B0604020202090204"/>
              </a:defRPr>
            </a:lvl4pPr>
            <a:lvl5pPr>
              <a:defRPr sz="2400" b="0">
                <a:solidFill>
                  <a:srgbClr val="000000"/>
                </a:solidFill>
                <a:latin typeface="Arial" panose="020B0604020202090204"/>
                <a:ea typeface="Arial" panose="020B0604020202090204"/>
                <a:cs typeface="Arial" panose="020B0604020202090204"/>
              </a:defRPr>
            </a:lvl5pPr>
            <a:lvl6pPr>
              <a:defRPr sz="2400" b="0">
                <a:solidFill>
                  <a:srgbClr val="000000"/>
                </a:solidFill>
                <a:latin typeface="Arial" panose="020B0604020202090204"/>
                <a:ea typeface="Arial" panose="020B0604020202090204"/>
                <a:cs typeface="Arial" panose="020B0604020202090204"/>
              </a:defRPr>
            </a:lvl6pPr>
            <a:lvl7pPr>
              <a:defRPr sz="2400" b="0">
                <a:solidFill>
                  <a:srgbClr val="000000"/>
                </a:solidFill>
                <a:latin typeface="Arial" panose="020B0604020202090204"/>
                <a:ea typeface="Arial" panose="020B0604020202090204"/>
                <a:cs typeface="Arial" panose="020B0604020202090204"/>
              </a:defRPr>
            </a:lvl7pPr>
            <a:lvl8pPr>
              <a:defRPr sz="2400" b="0">
                <a:solidFill>
                  <a:srgbClr val="000000"/>
                </a:solidFill>
                <a:latin typeface="Arial" panose="020B0604020202090204"/>
                <a:ea typeface="Arial" panose="020B0604020202090204"/>
                <a:cs typeface="Arial" panose="020B0604020202090204"/>
              </a:defRPr>
            </a:lvl8pPr>
            <a:lvl9pPr>
              <a:defRPr sz="2400" b="0">
                <a:solidFill>
                  <a:srgbClr val="000000"/>
                </a:solidFill>
                <a:latin typeface="Arial" panose="020B0604020202090204"/>
                <a:ea typeface="Arial" panose="020B0604020202090204"/>
                <a:cs typeface="Arial" panose="020B0604020202090204"/>
              </a:defRPr>
            </a:lvl9pPr>
          </a:lstStyle>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Job: pending</a:t>
            </a:r>
            <a:endParaRPr sz="2400" b="0">
              <a:solidFill>
                <a:srgbClr val="000000"/>
              </a:solidFill>
              <a:latin typeface="Arial" panose="020B0604020202090204"/>
              <a:ea typeface="Arial" panose="020B0604020202090204"/>
              <a:cs typeface="Arial" panose="020B0604020202090204"/>
            </a:endParaRPr>
          </a:p>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Comment: queued</a:t>
            </a:r>
            <a:endParaRPr sz="2400" b="0">
              <a:solidFill>
                <a:srgbClr val="000000"/>
              </a:solidFill>
              <a:latin typeface="Arial" panose="020B0604020202090204"/>
              <a:ea typeface="Arial" panose="020B0604020202090204"/>
              <a:cs typeface="Arial" panose="020B0604020202090204"/>
            </a:endParaRPr>
          </a:p>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Attempts: 0</a:t>
            </a:r>
            <a:endParaRPr sz="2400"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5905500" y="1571625"/>
            <a:ext cx="5238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After the Worker claims the job</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905500" y="2143125"/>
            <a:ext cx="4762500" cy="1381125"/>
          </a:xfrm>
          <a:prstGeom prst="rect">
            <a:avLst/>
          </a:prstGeom>
          <a:noFill/>
          <a:ln w="0">
            <a:noFill/>
          </a:ln>
        </p:spPr>
        <p:txBody>
          <a:bodyPr anchor="t"/>
          <a:lstStyle>
            <a:defPPr>
              <a:defRPr sz="2400" b="0">
                <a:solidFill>
                  <a:srgbClr val="000000"/>
                </a:solidFill>
                <a:latin typeface="Arial" panose="020B0604020202090204"/>
                <a:ea typeface="Arial" panose="020B0604020202090204"/>
                <a:cs typeface="Arial" panose="020B0604020202090204"/>
              </a:defRPr>
            </a:defPPr>
            <a:lvl1pPr>
              <a:defRPr sz="2400" b="0">
                <a:solidFill>
                  <a:srgbClr val="000000"/>
                </a:solidFill>
                <a:latin typeface="Arial" panose="020B0604020202090204"/>
                <a:ea typeface="Arial" panose="020B0604020202090204"/>
                <a:cs typeface="Arial" panose="020B0604020202090204"/>
              </a:defRPr>
            </a:lvl1pPr>
            <a:lvl2pPr>
              <a:defRPr sz="2400" b="0">
                <a:solidFill>
                  <a:srgbClr val="000000"/>
                </a:solidFill>
                <a:latin typeface="Arial" panose="020B0604020202090204"/>
                <a:ea typeface="Arial" panose="020B0604020202090204"/>
                <a:cs typeface="Arial" panose="020B0604020202090204"/>
              </a:defRPr>
            </a:lvl2pPr>
            <a:lvl3pPr>
              <a:defRPr sz="2400" b="0">
                <a:solidFill>
                  <a:srgbClr val="000000"/>
                </a:solidFill>
                <a:latin typeface="Arial" panose="020B0604020202090204"/>
                <a:ea typeface="Arial" panose="020B0604020202090204"/>
                <a:cs typeface="Arial" panose="020B0604020202090204"/>
              </a:defRPr>
            </a:lvl3pPr>
            <a:lvl4pPr>
              <a:defRPr sz="2400" b="0">
                <a:solidFill>
                  <a:srgbClr val="000000"/>
                </a:solidFill>
                <a:latin typeface="Arial" panose="020B0604020202090204"/>
                <a:ea typeface="Arial" panose="020B0604020202090204"/>
                <a:cs typeface="Arial" panose="020B0604020202090204"/>
              </a:defRPr>
            </a:lvl4pPr>
            <a:lvl5pPr>
              <a:defRPr sz="2400" b="0">
                <a:solidFill>
                  <a:srgbClr val="000000"/>
                </a:solidFill>
                <a:latin typeface="Arial" panose="020B0604020202090204"/>
                <a:ea typeface="Arial" panose="020B0604020202090204"/>
                <a:cs typeface="Arial" panose="020B0604020202090204"/>
              </a:defRPr>
            </a:lvl5pPr>
            <a:lvl6pPr>
              <a:defRPr sz="2400" b="0">
                <a:solidFill>
                  <a:srgbClr val="000000"/>
                </a:solidFill>
                <a:latin typeface="Arial" panose="020B0604020202090204"/>
                <a:ea typeface="Arial" panose="020B0604020202090204"/>
                <a:cs typeface="Arial" panose="020B0604020202090204"/>
              </a:defRPr>
            </a:lvl6pPr>
            <a:lvl7pPr>
              <a:defRPr sz="2400" b="0">
                <a:solidFill>
                  <a:srgbClr val="000000"/>
                </a:solidFill>
                <a:latin typeface="Arial" panose="020B0604020202090204"/>
                <a:ea typeface="Arial" panose="020B0604020202090204"/>
                <a:cs typeface="Arial" panose="020B0604020202090204"/>
              </a:defRPr>
            </a:lvl7pPr>
            <a:lvl8pPr>
              <a:defRPr sz="2400" b="0">
                <a:solidFill>
                  <a:srgbClr val="000000"/>
                </a:solidFill>
                <a:latin typeface="Arial" panose="020B0604020202090204"/>
                <a:ea typeface="Arial" panose="020B0604020202090204"/>
                <a:cs typeface="Arial" panose="020B0604020202090204"/>
              </a:defRPr>
            </a:lvl8pPr>
            <a:lvl9pPr>
              <a:defRPr sz="2400" b="0">
                <a:solidFill>
                  <a:srgbClr val="000000"/>
                </a:solidFill>
                <a:latin typeface="Arial" panose="020B0604020202090204"/>
                <a:ea typeface="Arial" panose="020B0604020202090204"/>
                <a:cs typeface="Arial" panose="020B0604020202090204"/>
              </a:defRPr>
            </a:lvl9pPr>
          </a:lstStyle>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Job: claimed</a:t>
            </a:r>
            <a:endParaRPr sz="2400" b="0">
              <a:solidFill>
                <a:srgbClr val="000000"/>
              </a:solidFill>
              <a:latin typeface="Arial" panose="020B0604020202090204"/>
              <a:ea typeface="Arial" panose="020B0604020202090204"/>
              <a:cs typeface="Arial" panose="020B0604020202090204"/>
            </a:endParaRPr>
          </a:p>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Comment: analyzing</a:t>
            </a:r>
            <a:endParaRPr sz="2400" b="0">
              <a:solidFill>
                <a:srgbClr val="000000"/>
              </a:solidFill>
              <a:latin typeface="Arial" panose="020B0604020202090204"/>
              <a:ea typeface="Arial" panose="020B0604020202090204"/>
              <a:cs typeface="Arial" panose="020B0604020202090204"/>
            </a:endParaRPr>
          </a:p>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Attempts: 1</a:t>
            </a:r>
            <a:endParaRPr sz="2400" b="0">
              <a:solidFill>
                <a:srgbClr val="000000"/>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09600" y="4095750"/>
            <a:ext cx="103822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Database assertions in the acceptance test</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09600" y="4667250"/>
            <a:ext cx="10382250" cy="857250"/>
          </a:xfrm>
          <a:prstGeom prst="rect">
            <a:avLst/>
          </a:prstGeom>
          <a:noFill/>
          <a:ln w="0">
            <a:noFill/>
          </a:ln>
        </p:spPr>
        <p:txBody>
          <a:bodyPr anchor="t"/>
          <a:lstStyle>
            <a:defPPr>
              <a:defRPr sz="1575" b="1">
                <a:solidFill>
                  <a:srgbClr val="000000"/>
                </a:solidFill>
                <a:latin typeface="Courier New" panose="02070409020205090404"/>
                <a:ea typeface="Courier New" panose="02070409020205090404"/>
                <a:cs typeface="Courier New" panose="02070409020205090404"/>
              </a:defRPr>
            </a:defPPr>
            <a:lvl1pPr>
              <a:defRPr sz="1575" b="1">
                <a:solidFill>
                  <a:srgbClr val="000000"/>
                </a:solidFill>
                <a:latin typeface="Courier New" panose="02070409020205090404"/>
                <a:ea typeface="Courier New" panose="02070409020205090404"/>
                <a:cs typeface="Courier New" panose="02070409020205090404"/>
              </a:defRPr>
            </a:lvl1pPr>
            <a:lvl2pPr>
              <a:defRPr sz="1575" b="1">
                <a:solidFill>
                  <a:srgbClr val="000000"/>
                </a:solidFill>
                <a:latin typeface="Courier New" panose="02070409020205090404"/>
                <a:ea typeface="Courier New" panose="02070409020205090404"/>
                <a:cs typeface="Courier New" panose="02070409020205090404"/>
              </a:defRPr>
            </a:lvl2pPr>
            <a:lvl3pPr>
              <a:defRPr sz="1575" b="1">
                <a:solidFill>
                  <a:srgbClr val="000000"/>
                </a:solidFill>
                <a:latin typeface="Courier New" panose="02070409020205090404"/>
                <a:ea typeface="Courier New" panose="02070409020205090404"/>
                <a:cs typeface="Courier New" panose="02070409020205090404"/>
              </a:defRPr>
            </a:lvl3pPr>
            <a:lvl4pPr>
              <a:defRPr sz="1575" b="1">
                <a:solidFill>
                  <a:srgbClr val="000000"/>
                </a:solidFill>
                <a:latin typeface="Courier New" panose="02070409020205090404"/>
                <a:ea typeface="Courier New" panose="02070409020205090404"/>
                <a:cs typeface="Courier New" panose="02070409020205090404"/>
              </a:defRPr>
            </a:lvl4pPr>
            <a:lvl5pPr>
              <a:defRPr sz="1575" b="1">
                <a:solidFill>
                  <a:srgbClr val="000000"/>
                </a:solidFill>
                <a:latin typeface="Courier New" panose="02070409020205090404"/>
                <a:ea typeface="Courier New" panose="02070409020205090404"/>
                <a:cs typeface="Courier New" panose="02070409020205090404"/>
              </a:defRPr>
            </a:lvl5pPr>
            <a:lvl6pPr>
              <a:defRPr sz="1575" b="1">
                <a:solidFill>
                  <a:srgbClr val="000000"/>
                </a:solidFill>
                <a:latin typeface="Courier New" panose="02070409020205090404"/>
                <a:ea typeface="Courier New" panose="02070409020205090404"/>
                <a:cs typeface="Courier New" panose="02070409020205090404"/>
              </a:defRPr>
            </a:lvl6pPr>
            <a:lvl7pPr>
              <a:defRPr sz="1575" b="1">
                <a:solidFill>
                  <a:srgbClr val="000000"/>
                </a:solidFill>
                <a:latin typeface="Courier New" panose="02070409020205090404"/>
                <a:ea typeface="Courier New" panose="02070409020205090404"/>
                <a:cs typeface="Courier New" panose="02070409020205090404"/>
              </a:defRPr>
            </a:lvl7pPr>
            <a:lvl8pPr>
              <a:defRPr sz="1575" b="1">
                <a:solidFill>
                  <a:srgbClr val="000000"/>
                </a:solidFill>
                <a:latin typeface="Courier New" panose="02070409020205090404"/>
                <a:ea typeface="Courier New" panose="02070409020205090404"/>
                <a:cs typeface="Courier New" panose="02070409020205090404"/>
              </a:defRPr>
            </a:lvl8pPr>
            <a:lvl9pPr>
              <a:defRPr sz="1575" b="1">
                <a:solidFill>
                  <a:srgbClr val="000000"/>
                </a:solidFill>
                <a:latin typeface="Courier New" panose="02070409020205090404"/>
                <a:ea typeface="Courier New" panose="02070409020205090404"/>
                <a:cs typeface="Courier New" panose="02070409020205090404"/>
              </a:defRPr>
            </a:lvl9pPr>
          </a:lstStyle>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assert db.get(Comment, initial["comment_id"]).analysis_status == "queued"</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assert db.get(Job, initial["job_id"]).status == "pending"</a:t>
            </a:r>
            <a:endParaRPr sz="1575" b="1">
              <a:solidFill>
                <a:srgbClr val="000000"/>
              </a:solidFill>
              <a:latin typeface="Courier New" panose="02070409020205090404"/>
              <a:ea typeface="Courier New" panose="02070409020205090404"/>
              <a:cs typeface="Courier New" panose="02070409020205090404"/>
            </a:endParaRPr>
          </a:p>
        </p:txBody>
      </p:sp>
      <p:sp>
        <p:nvSpPr>
          <p:cNvPr id="11" name="矩形 10"/>
          <p:cNvSpPr>
            <a:spLocks noGrp="1"/>
          </p:cNvSpPr>
          <p:nvPr/>
        </p:nvSpPr>
        <p:spPr>
          <a:xfrm>
            <a:off x="609600" y="5715000"/>
            <a:ext cx="10287000" cy="400050"/>
          </a:xfrm>
          <a:prstGeom prst="rect">
            <a:avLst/>
          </a:prstGeom>
          <a:noFill/>
          <a:ln w="0">
            <a:noFill/>
          </a:ln>
        </p:spPr>
        <p:txBody>
          <a:bodyPr anchor="t"/>
          <a:lstStyle>
            <a:defPPr>
              <a:defRPr sz="1800" b="0">
                <a:solidFill>
                  <a:srgbClr val="000000"/>
                </a:solidFill>
                <a:latin typeface="Arial" panose="020B0604020202090204"/>
                <a:ea typeface="Arial" panose="020B0604020202090204"/>
                <a:cs typeface="Arial" panose="020B0604020202090204"/>
              </a:defRPr>
            </a:defPPr>
            <a:lvl1pPr>
              <a:defRPr sz="1800" b="0">
                <a:solidFill>
                  <a:srgbClr val="000000"/>
                </a:solidFill>
                <a:latin typeface="Arial" panose="020B0604020202090204"/>
                <a:ea typeface="Arial" panose="020B0604020202090204"/>
                <a:cs typeface="Arial" panose="020B0604020202090204"/>
              </a:defRPr>
            </a:lvl1pPr>
            <a:lvl2pPr>
              <a:defRPr sz="1800" b="0">
                <a:solidFill>
                  <a:srgbClr val="000000"/>
                </a:solidFill>
                <a:latin typeface="Arial" panose="020B0604020202090204"/>
                <a:ea typeface="Arial" panose="020B0604020202090204"/>
                <a:cs typeface="Arial" panose="020B0604020202090204"/>
              </a:defRPr>
            </a:lvl2pPr>
            <a:lvl3pPr>
              <a:defRPr sz="1800" b="0">
                <a:solidFill>
                  <a:srgbClr val="000000"/>
                </a:solidFill>
                <a:latin typeface="Arial" panose="020B0604020202090204"/>
                <a:ea typeface="Arial" panose="020B0604020202090204"/>
                <a:cs typeface="Arial" panose="020B0604020202090204"/>
              </a:defRPr>
            </a:lvl3pPr>
            <a:lvl4pPr>
              <a:defRPr sz="1800" b="0">
                <a:solidFill>
                  <a:srgbClr val="000000"/>
                </a:solidFill>
                <a:latin typeface="Arial" panose="020B0604020202090204"/>
                <a:ea typeface="Arial" panose="020B0604020202090204"/>
                <a:cs typeface="Arial" panose="020B0604020202090204"/>
              </a:defRPr>
            </a:lvl4pPr>
            <a:lvl5pPr>
              <a:defRPr sz="1800" b="0">
                <a:solidFill>
                  <a:srgbClr val="000000"/>
                </a:solidFill>
                <a:latin typeface="Arial" panose="020B0604020202090204"/>
                <a:ea typeface="Arial" panose="020B0604020202090204"/>
                <a:cs typeface="Arial" panose="020B0604020202090204"/>
              </a:defRPr>
            </a:lvl5pPr>
            <a:lvl6pPr>
              <a:defRPr sz="1800" b="0">
                <a:solidFill>
                  <a:srgbClr val="000000"/>
                </a:solidFill>
                <a:latin typeface="Arial" panose="020B0604020202090204"/>
                <a:ea typeface="Arial" panose="020B0604020202090204"/>
                <a:cs typeface="Arial" panose="020B0604020202090204"/>
              </a:defRPr>
            </a:lvl6pPr>
            <a:lvl7pPr>
              <a:defRPr sz="1800" b="0">
                <a:solidFill>
                  <a:srgbClr val="000000"/>
                </a:solidFill>
                <a:latin typeface="Arial" panose="020B0604020202090204"/>
                <a:ea typeface="Arial" panose="020B0604020202090204"/>
                <a:cs typeface="Arial" panose="020B0604020202090204"/>
              </a:defRPr>
            </a:lvl7pPr>
            <a:lvl8pPr>
              <a:defRPr sz="1800" b="0">
                <a:solidFill>
                  <a:srgbClr val="000000"/>
                </a:solidFill>
                <a:latin typeface="Arial" panose="020B0604020202090204"/>
                <a:ea typeface="Arial" panose="020B0604020202090204"/>
                <a:cs typeface="Arial" panose="020B0604020202090204"/>
              </a:defRPr>
            </a:lvl8pPr>
            <a:lvl9pPr>
              <a:defRPr sz="1800" b="0">
                <a:solidFill>
                  <a:srgbClr val="000000"/>
                </a:solidFill>
                <a:latin typeface="Arial" panose="020B0604020202090204"/>
                <a:ea typeface="Arial" panose="020B0604020202090204"/>
                <a:cs typeface="Arial" panose="020B0604020202090204"/>
              </a:defRPr>
            </a:lvl9pPr>
          </a:lstStyle>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jobs.py commits the claimed state before the analysis request begins.</a:t>
            </a:r>
            <a:endParaRPr sz="1800"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3  Background processing</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06</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71625"/>
            <a:ext cx="100012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A separate Worker process</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095500"/>
            <a:ext cx="10001250" cy="523875"/>
          </a:xfrm>
          <a:prstGeom prst="rect">
            <a:avLst/>
          </a:prstGeom>
          <a:noFill/>
          <a:ln w="0">
            <a:noFill/>
          </a:ln>
        </p:spPr>
        <p:txBody>
          <a:bodyPr anchor="t"/>
          <a:lstStyle>
            <a:defPPr>
              <a:defRPr sz="2100" b="1">
                <a:solidFill>
                  <a:srgbClr val="000000"/>
                </a:solidFill>
                <a:latin typeface="Courier New" panose="02070409020205090404"/>
                <a:ea typeface="Courier New" panose="02070409020205090404"/>
                <a:cs typeface="Courier New" panose="02070409020205090404"/>
              </a:defRPr>
            </a:defPPr>
            <a:lvl1pPr>
              <a:defRPr sz="2100" b="1">
                <a:solidFill>
                  <a:srgbClr val="000000"/>
                </a:solidFill>
                <a:latin typeface="Courier New" panose="02070409020205090404"/>
                <a:ea typeface="Courier New" panose="02070409020205090404"/>
                <a:cs typeface="Courier New" panose="02070409020205090404"/>
              </a:defRPr>
            </a:lvl1pPr>
            <a:lvl2pPr>
              <a:defRPr sz="2100" b="1">
                <a:solidFill>
                  <a:srgbClr val="000000"/>
                </a:solidFill>
                <a:latin typeface="Courier New" panose="02070409020205090404"/>
                <a:ea typeface="Courier New" panose="02070409020205090404"/>
                <a:cs typeface="Courier New" panose="02070409020205090404"/>
              </a:defRPr>
            </a:lvl2pPr>
            <a:lvl3pPr>
              <a:defRPr sz="2100" b="1">
                <a:solidFill>
                  <a:srgbClr val="000000"/>
                </a:solidFill>
                <a:latin typeface="Courier New" panose="02070409020205090404"/>
                <a:ea typeface="Courier New" panose="02070409020205090404"/>
                <a:cs typeface="Courier New" panose="02070409020205090404"/>
              </a:defRPr>
            </a:lvl3pPr>
            <a:lvl4pPr>
              <a:defRPr sz="2100" b="1">
                <a:solidFill>
                  <a:srgbClr val="000000"/>
                </a:solidFill>
                <a:latin typeface="Courier New" panose="02070409020205090404"/>
                <a:ea typeface="Courier New" panose="02070409020205090404"/>
                <a:cs typeface="Courier New" panose="02070409020205090404"/>
              </a:defRPr>
            </a:lvl4pPr>
            <a:lvl5pPr>
              <a:defRPr sz="2100" b="1">
                <a:solidFill>
                  <a:srgbClr val="000000"/>
                </a:solidFill>
                <a:latin typeface="Courier New" panose="02070409020205090404"/>
                <a:ea typeface="Courier New" panose="02070409020205090404"/>
                <a:cs typeface="Courier New" panose="02070409020205090404"/>
              </a:defRPr>
            </a:lvl5pPr>
            <a:lvl6pPr>
              <a:defRPr sz="2100" b="1">
                <a:solidFill>
                  <a:srgbClr val="000000"/>
                </a:solidFill>
                <a:latin typeface="Courier New" panose="02070409020205090404"/>
                <a:ea typeface="Courier New" panose="02070409020205090404"/>
                <a:cs typeface="Courier New" panose="02070409020205090404"/>
              </a:defRPr>
            </a:lvl6pPr>
            <a:lvl7pPr>
              <a:defRPr sz="2100" b="1">
                <a:solidFill>
                  <a:srgbClr val="000000"/>
                </a:solidFill>
                <a:latin typeface="Courier New" panose="02070409020205090404"/>
                <a:ea typeface="Courier New" panose="02070409020205090404"/>
                <a:cs typeface="Courier New" panose="02070409020205090404"/>
              </a:defRPr>
            </a:lvl7pPr>
            <a:lvl8pPr>
              <a:defRPr sz="2100" b="1">
                <a:solidFill>
                  <a:srgbClr val="000000"/>
                </a:solidFill>
                <a:latin typeface="Courier New" panose="02070409020205090404"/>
                <a:ea typeface="Courier New" panose="02070409020205090404"/>
                <a:cs typeface="Courier New" panose="02070409020205090404"/>
              </a:defRPr>
            </a:lvl8pPr>
            <a:lvl9pPr>
              <a:defRPr sz="2100" b="1">
                <a:solidFill>
                  <a:srgbClr val="000000"/>
                </a:solidFill>
                <a:latin typeface="Courier New" panose="02070409020205090404"/>
                <a:ea typeface="Courier New" panose="02070409020205090404"/>
                <a:cs typeface="Courier New" panose="02070409020205090404"/>
              </a:defRPr>
            </a:lvl9pPr>
          </a:lstStyle>
          <a:p>
            <a:pPr>
              <a:defRPr sz="2100" b="0">
                <a:solidFill>
                  <a:srgbClr val="000000"/>
                </a:solidFill>
                <a:latin typeface="Arial" panose="020B0604020202090204"/>
                <a:ea typeface="Arial" panose="020B0604020202090204"/>
                <a:cs typeface="Arial" panose="020B0604020202090204"/>
              </a:defRPr>
            </a:pPr>
            <a:r>
              <a:rPr sz="2100" b="1">
                <a:solidFill>
                  <a:srgbClr val="000000"/>
                </a:solidFill>
                <a:latin typeface="Courier New" panose="02070409020205090404"/>
                <a:ea typeface="Courier New" panose="02070409020205090404"/>
                <a:cs typeface="Courier New" panose="02070409020205090404"/>
              </a:rPr>
              <a:t>python -m services.worker.app.main</a:t>
            </a:r>
            <a:endParaRPr sz="2100" b="1">
              <a:solidFill>
                <a:srgbClr val="000000"/>
              </a:solidFill>
              <a:latin typeface="Courier New" panose="02070409020205090404"/>
              <a:ea typeface="Courier New" panose="02070409020205090404"/>
              <a:cs typeface="Courier New" panose="02070409020205090404"/>
            </a:endParaRPr>
          </a:p>
        </p:txBody>
      </p:sp>
      <p:sp>
        <p:nvSpPr>
          <p:cNvPr id="7" name="矩形 6"/>
          <p:cNvSpPr>
            <a:spLocks noGrp="1"/>
          </p:cNvSpPr>
          <p:nvPr/>
        </p:nvSpPr>
        <p:spPr>
          <a:xfrm>
            <a:off x="609600" y="30956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01  Claim a due job</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09600" y="3571875"/>
            <a:ext cx="4476750" cy="857250"/>
          </a:xfrm>
          <a:prstGeom prst="rect">
            <a:avLst/>
          </a:prstGeom>
          <a:noFill/>
          <a:ln w="0">
            <a:noFill/>
          </a:ln>
        </p:spPr>
        <p:txBody>
          <a:bodyPr anchor="t"/>
          <a:lstStyle>
            <a:defPPr>
              <a:defRPr sz="1950" b="0">
                <a:solidFill>
                  <a:srgbClr val="000000"/>
                </a:solidFill>
                <a:latin typeface="Arial" panose="020B0604020202090204"/>
                <a:ea typeface="Arial" panose="020B0604020202090204"/>
                <a:cs typeface="Arial" panose="020B0604020202090204"/>
              </a:defRPr>
            </a:defPPr>
            <a:lvl1pPr>
              <a:defRPr sz="1950" b="0">
                <a:solidFill>
                  <a:srgbClr val="000000"/>
                </a:solidFill>
                <a:latin typeface="Arial" panose="020B0604020202090204"/>
                <a:ea typeface="Arial" panose="020B0604020202090204"/>
                <a:cs typeface="Arial" panose="020B0604020202090204"/>
              </a:defRPr>
            </a:lvl1pPr>
            <a:lvl2pPr>
              <a:defRPr sz="1950" b="0">
                <a:solidFill>
                  <a:srgbClr val="000000"/>
                </a:solidFill>
                <a:latin typeface="Arial" panose="020B0604020202090204"/>
                <a:ea typeface="Arial" panose="020B0604020202090204"/>
                <a:cs typeface="Arial" panose="020B0604020202090204"/>
              </a:defRPr>
            </a:lvl2pPr>
            <a:lvl3pPr>
              <a:defRPr sz="1950" b="0">
                <a:solidFill>
                  <a:srgbClr val="000000"/>
                </a:solidFill>
                <a:latin typeface="Arial" panose="020B0604020202090204"/>
                <a:ea typeface="Arial" panose="020B0604020202090204"/>
                <a:cs typeface="Arial" panose="020B0604020202090204"/>
              </a:defRPr>
            </a:lvl3pPr>
            <a:lvl4pPr>
              <a:defRPr sz="1950" b="0">
                <a:solidFill>
                  <a:srgbClr val="000000"/>
                </a:solidFill>
                <a:latin typeface="Arial" panose="020B0604020202090204"/>
                <a:ea typeface="Arial" panose="020B0604020202090204"/>
                <a:cs typeface="Arial" panose="020B0604020202090204"/>
              </a:defRPr>
            </a:lvl4pPr>
            <a:lvl5pPr>
              <a:defRPr sz="1950" b="0">
                <a:solidFill>
                  <a:srgbClr val="000000"/>
                </a:solidFill>
                <a:latin typeface="Arial" panose="020B0604020202090204"/>
                <a:ea typeface="Arial" panose="020B0604020202090204"/>
                <a:cs typeface="Arial" panose="020B0604020202090204"/>
              </a:defRPr>
            </a:lvl5pPr>
            <a:lvl6pPr>
              <a:defRPr sz="1950" b="0">
                <a:solidFill>
                  <a:srgbClr val="000000"/>
                </a:solidFill>
                <a:latin typeface="Arial" panose="020B0604020202090204"/>
                <a:ea typeface="Arial" panose="020B0604020202090204"/>
                <a:cs typeface="Arial" panose="020B0604020202090204"/>
              </a:defRPr>
            </a:lvl6pPr>
            <a:lvl7pPr>
              <a:defRPr sz="1950" b="0">
                <a:solidFill>
                  <a:srgbClr val="000000"/>
                </a:solidFill>
                <a:latin typeface="Arial" panose="020B0604020202090204"/>
                <a:ea typeface="Arial" panose="020B0604020202090204"/>
                <a:cs typeface="Arial" panose="020B0604020202090204"/>
              </a:defRPr>
            </a:lvl7pPr>
            <a:lvl8pPr>
              <a:defRPr sz="1950" b="0">
                <a:solidFill>
                  <a:srgbClr val="000000"/>
                </a:solidFill>
                <a:latin typeface="Arial" panose="020B0604020202090204"/>
                <a:ea typeface="Arial" panose="020B0604020202090204"/>
                <a:cs typeface="Arial" panose="020B0604020202090204"/>
              </a:defRPr>
            </a:lvl8pPr>
            <a:lvl9pPr>
              <a:defRPr sz="1950" b="0">
                <a:solidFill>
                  <a:srgbClr val="000000"/>
                </a:solidFill>
                <a:latin typeface="Arial" panose="020B0604020202090204"/>
                <a:ea typeface="Arial" panose="020B0604020202090204"/>
                <a:cs typeface="Arial" panose="020B0604020202090204"/>
              </a:defRPr>
            </a:lvl9pPr>
          </a:lstStyle>
          <a:p>
            <a:pPr>
              <a:defRPr sz="1950" b="0">
                <a:solidFill>
                  <a:srgbClr val="000000"/>
                </a:solidFill>
                <a:latin typeface="Arial" panose="020B0604020202090204"/>
                <a:ea typeface="Arial" panose="020B0604020202090204"/>
                <a:cs typeface="Arial" panose="020B0604020202090204"/>
              </a:defRPr>
            </a:pPr>
            <a:r>
              <a:rPr sz="1950" b="0">
                <a:solidFill>
                  <a:srgbClr val="000000"/>
                </a:solidFill>
                <a:latin typeface="Arial" panose="020B0604020202090204"/>
                <a:ea typeface="Arial" panose="020B0604020202090204"/>
                <a:cs typeface="Arial" panose="020B0604020202090204"/>
              </a:rPr>
              <a:t>Keep the original JobClaim and a fixed input snapshot.</a:t>
            </a:r>
            <a:endParaRPr sz="1950" b="0">
              <a:solidFill>
                <a:srgbClr val="000000"/>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191250" y="3095625"/>
            <a:ext cx="4857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02  Call the analysis service</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191250" y="3571875"/>
            <a:ext cx="4572000" cy="857250"/>
          </a:xfrm>
          <a:prstGeom prst="rect">
            <a:avLst/>
          </a:prstGeom>
          <a:noFill/>
          <a:ln w="0">
            <a:noFill/>
          </a:ln>
        </p:spPr>
        <p:txBody>
          <a:bodyPr anchor="t"/>
          <a:lstStyle>
            <a:defPPr>
              <a:defRPr sz="1950" b="0">
                <a:solidFill>
                  <a:srgbClr val="000000"/>
                </a:solidFill>
                <a:latin typeface="Arial" panose="020B0604020202090204"/>
                <a:ea typeface="Arial" panose="020B0604020202090204"/>
                <a:cs typeface="Arial" panose="020B0604020202090204"/>
              </a:defRPr>
            </a:defPPr>
            <a:lvl1pPr>
              <a:defRPr sz="1950" b="0">
                <a:solidFill>
                  <a:srgbClr val="000000"/>
                </a:solidFill>
                <a:latin typeface="Arial" panose="020B0604020202090204"/>
                <a:ea typeface="Arial" panose="020B0604020202090204"/>
                <a:cs typeface="Arial" panose="020B0604020202090204"/>
              </a:defRPr>
            </a:lvl1pPr>
            <a:lvl2pPr>
              <a:defRPr sz="1950" b="0">
                <a:solidFill>
                  <a:srgbClr val="000000"/>
                </a:solidFill>
                <a:latin typeface="Arial" panose="020B0604020202090204"/>
                <a:ea typeface="Arial" panose="020B0604020202090204"/>
                <a:cs typeface="Arial" panose="020B0604020202090204"/>
              </a:defRPr>
            </a:lvl2pPr>
            <a:lvl3pPr>
              <a:defRPr sz="1950" b="0">
                <a:solidFill>
                  <a:srgbClr val="000000"/>
                </a:solidFill>
                <a:latin typeface="Arial" panose="020B0604020202090204"/>
                <a:ea typeface="Arial" panose="020B0604020202090204"/>
                <a:cs typeface="Arial" panose="020B0604020202090204"/>
              </a:defRPr>
            </a:lvl3pPr>
            <a:lvl4pPr>
              <a:defRPr sz="1950" b="0">
                <a:solidFill>
                  <a:srgbClr val="000000"/>
                </a:solidFill>
                <a:latin typeface="Arial" panose="020B0604020202090204"/>
                <a:ea typeface="Arial" panose="020B0604020202090204"/>
                <a:cs typeface="Arial" panose="020B0604020202090204"/>
              </a:defRPr>
            </a:lvl4pPr>
            <a:lvl5pPr>
              <a:defRPr sz="1950" b="0">
                <a:solidFill>
                  <a:srgbClr val="000000"/>
                </a:solidFill>
                <a:latin typeface="Arial" panose="020B0604020202090204"/>
                <a:ea typeface="Arial" panose="020B0604020202090204"/>
                <a:cs typeface="Arial" panose="020B0604020202090204"/>
              </a:defRPr>
            </a:lvl5pPr>
            <a:lvl6pPr>
              <a:defRPr sz="1950" b="0">
                <a:solidFill>
                  <a:srgbClr val="000000"/>
                </a:solidFill>
                <a:latin typeface="Arial" panose="020B0604020202090204"/>
                <a:ea typeface="Arial" panose="020B0604020202090204"/>
                <a:cs typeface="Arial" panose="020B0604020202090204"/>
              </a:defRPr>
            </a:lvl6pPr>
            <a:lvl7pPr>
              <a:defRPr sz="1950" b="0">
                <a:solidFill>
                  <a:srgbClr val="000000"/>
                </a:solidFill>
                <a:latin typeface="Arial" panose="020B0604020202090204"/>
                <a:ea typeface="Arial" panose="020B0604020202090204"/>
                <a:cs typeface="Arial" panose="020B0604020202090204"/>
              </a:defRPr>
            </a:lvl7pPr>
            <a:lvl8pPr>
              <a:defRPr sz="1950" b="0">
                <a:solidFill>
                  <a:srgbClr val="000000"/>
                </a:solidFill>
                <a:latin typeface="Arial" panose="020B0604020202090204"/>
                <a:ea typeface="Arial" panose="020B0604020202090204"/>
                <a:cs typeface="Arial" panose="020B0604020202090204"/>
              </a:defRPr>
            </a:lvl8pPr>
            <a:lvl9pPr>
              <a:defRPr sz="1950" b="0">
                <a:solidFill>
                  <a:srgbClr val="000000"/>
                </a:solidFill>
                <a:latin typeface="Arial" panose="020B0604020202090204"/>
                <a:ea typeface="Arial" panose="020B0604020202090204"/>
                <a:cs typeface="Arial" panose="020B0604020202090204"/>
              </a:defRPr>
            </a:lvl9pPr>
          </a:lstStyle>
          <a:p>
            <a:pPr>
              <a:defRPr sz="1950" b="0">
                <a:solidFill>
                  <a:srgbClr val="000000"/>
                </a:solidFill>
                <a:latin typeface="Arial" panose="020B0604020202090204"/>
                <a:ea typeface="Arial" panose="020B0604020202090204"/>
                <a:cs typeface="Arial" panose="020B0604020202090204"/>
              </a:defRPr>
            </a:pPr>
            <a:r>
              <a:rPr sz="1950" b="0">
                <a:solidFill>
                  <a:srgbClr val="000000"/>
                </a:solidFill>
                <a:latin typeface="Arial" panose="020B0604020202090204"/>
                <a:ea typeface="Arial" panose="020B0604020202090204"/>
                <a:cs typeface="Arial" panose="020B0604020202090204"/>
              </a:rPr>
              <a:t>Use HTTP without holding the database transaction lock.</a:t>
            </a:r>
            <a:endParaRPr sz="1950" b="0">
              <a:solidFill>
                <a:srgbClr val="000000"/>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609600" y="48101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03  Validate the response</a:t>
            </a:r>
            <a:endParaRPr sz="2025" b="1">
              <a:solidFill>
                <a:srgbClr val="000000"/>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609600" y="5286375"/>
            <a:ext cx="4572000" cy="809625"/>
          </a:xfrm>
          <a:prstGeom prst="rect">
            <a:avLst/>
          </a:prstGeom>
          <a:noFill/>
          <a:ln w="0">
            <a:noFill/>
          </a:ln>
        </p:spPr>
        <p:txBody>
          <a:bodyPr anchor="t"/>
          <a:lstStyle>
            <a:defPPr>
              <a:defRPr sz="1875" b="0">
                <a:solidFill>
                  <a:srgbClr val="000000"/>
                </a:solidFill>
                <a:latin typeface="Arial" panose="020B0604020202090204"/>
                <a:ea typeface="Arial" panose="020B0604020202090204"/>
                <a:cs typeface="Arial" panose="020B0604020202090204"/>
              </a:defRPr>
            </a:defPPr>
            <a:lvl1pPr>
              <a:defRPr sz="1875" b="0">
                <a:solidFill>
                  <a:srgbClr val="000000"/>
                </a:solidFill>
                <a:latin typeface="Arial" panose="020B0604020202090204"/>
                <a:ea typeface="Arial" panose="020B0604020202090204"/>
                <a:cs typeface="Arial" panose="020B0604020202090204"/>
              </a:defRPr>
            </a:lvl1pPr>
            <a:lvl2pPr>
              <a:defRPr sz="1875" b="0">
                <a:solidFill>
                  <a:srgbClr val="000000"/>
                </a:solidFill>
                <a:latin typeface="Arial" panose="020B0604020202090204"/>
                <a:ea typeface="Arial" panose="020B0604020202090204"/>
                <a:cs typeface="Arial" panose="020B0604020202090204"/>
              </a:defRPr>
            </a:lvl2pPr>
            <a:lvl3pPr>
              <a:defRPr sz="1875" b="0">
                <a:solidFill>
                  <a:srgbClr val="000000"/>
                </a:solidFill>
                <a:latin typeface="Arial" panose="020B0604020202090204"/>
                <a:ea typeface="Arial" panose="020B0604020202090204"/>
                <a:cs typeface="Arial" panose="020B0604020202090204"/>
              </a:defRPr>
            </a:lvl3pPr>
            <a:lvl4pPr>
              <a:defRPr sz="1875" b="0">
                <a:solidFill>
                  <a:srgbClr val="000000"/>
                </a:solidFill>
                <a:latin typeface="Arial" panose="020B0604020202090204"/>
                <a:ea typeface="Arial" panose="020B0604020202090204"/>
                <a:cs typeface="Arial" panose="020B0604020202090204"/>
              </a:defRPr>
            </a:lvl4pPr>
            <a:lvl5pPr>
              <a:defRPr sz="1875" b="0">
                <a:solidFill>
                  <a:srgbClr val="000000"/>
                </a:solidFill>
                <a:latin typeface="Arial" panose="020B0604020202090204"/>
                <a:ea typeface="Arial" panose="020B0604020202090204"/>
                <a:cs typeface="Arial" panose="020B0604020202090204"/>
              </a:defRPr>
            </a:lvl5pPr>
            <a:lvl6pPr>
              <a:defRPr sz="1875" b="0">
                <a:solidFill>
                  <a:srgbClr val="000000"/>
                </a:solidFill>
                <a:latin typeface="Arial" panose="020B0604020202090204"/>
                <a:ea typeface="Arial" panose="020B0604020202090204"/>
                <a:cs typeface="Arial" panose="020B0604020202090204"/>
              </a:defRPr>
            </a:lvl6pPr>
            <a:lvl7pPr>
              <a:defRPr sz="1875" b="0">
                <a:solidFill>
                  <a:srgbClr val="000000"/>
                </a:solidFill>
                <a:latin typeface="Arial" panose="020B0604020202090204"/>
                <a:ea typeface="Arial" panose="020B0604020202090204"/>
                <a:cs typeface="Arial" panose="020B0604020202090204"/>
              </a:defRPr>
            </a:lvl7pPr>
            <a:lvl8pPr>
              <a:defRPr sz="1875" b="0">
                <a:solidFill>
                  <a:srgbClr val="000000"/>
                </a:solidFill>
                <a:latin typeface="Arial" panose="020B0604020202090204"/>
                <a:ea typeface="Arial" panose="020B0604020202090204"/>
                <a:cs typeface="Arial" panose="020B0604020202090204"/>
              </a:defRPr>
            </a:lvl8pPr>
            <a:lvl9pPr>
              <a:defRPr sz="1875" b="0">
                <a:solidFill>
                  <a:srgbClr val="000000"/>
                </a:solidFill>
                <a:latin typeface="Arial" panose="020B0604020202090204"/>
                <a:ea typeface="Arial" panose="020B0604020202090204"/>
                <a:cs typeface="Arial" panose="020B0604020202090204"/>
              </a:defRPr>
            </a:lvl9pPr>
          </a:lstStyle>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Check identifiers, versions, categories and source evidence.</a:t>
            </a:r>
            <a:endParaRPr sz="1875" b="0">
              <a:solidFill>
                <a:srgbClr val="000000"/>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6191250" y="4810125"/>
            <a:ext cx="50482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04  Save under ownership checks</a:t>
            </a:r>
            <a:endParaRPr sz="2025" b="1">
              <a:solidFill>
                <a:srgbClr val="000000"/>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6191250" y="5286375"/>
            <a:ext cx="4572000" cy="809625"/>
          </a:xfrm>
          <a:prstGeom prst="rect">
            <a:avLst/>
          </a:prstGeom>
          <a:noFill/>
          <a:ln w="0">
            <a:noFill/>
          </a:ln>
        </p:spPr>
        <p:txBody>
          <a:bodyPr anchor="t"/>
          <a:lstStyle>
            <a:defPPr>
              <a:defRPr sz="1875" b="0">
                <a:solidFill>
                  <a:srgbClr val="000000"/>
                </a:solidFill>
                <a:latin typeface="Arial" panose="020B0604020202090204"/>
                <a:ea typeface="Arial" panose="020B0604020202090204"/>
                <a:cs typeface="Arial" panose="020B0604020202090204"/>
              </a:defRPr>
            </a:defPPr>
            <a:lvl1pPr>
              <a:defRPr sz="1875" b="0">
                <a:solidFill>
                  <a:srgbClr val="000000"/>
                </a:solidFill>
                <a:latin typeface="Arial" panose="020B0604020202090204"/>
                <a:ea typeface="Arial" panose="020B0604020202090204"/>
                <a:cs typeface="Arial" panose="020B0604020202090204"/>
              </a:defRPr>
            </a:lvl1pPr>
            <a:lvl2pPr>
              <a:defRPr sz="1875" b="0">
                <a:solidFill>
                  <a:srgbClr val="000000"/>
                </a:solidFill>
                <a:latin typeface="Arial" panose="020B0604020202090204"/>
                <a:ea typeface="Arial" panose="020B0604020202090204"/>
                <a:cs typeface="Arial" panose="020B0604020202090204"/>
              </a:defRPr>
            </a:lvl2pPr>
            <a:lvl3pPr>
              <a:defRPr sz="1875" b="0">
                <a:solidFill>
                  <a:srgbClr val="000000"/>
                </a:solidFill>
                <a:latin typeface="Arial" panose="020B0604020202090204"/>
                <a:ea typeface="Arial" panose="020B0604020202090204"/>
                <a:cs typeface="Arial" panose="020B0604020202090204"/>
              </a:defRPr>
            </a:lvl3pPr>
            <a:lvl4pPr>
              <a:defRPr sz="1875" b="0">
                <a:solidFill>
                  <a:srgbClr val="000000"/>
                </a:solidFill>
                <a:latin typeface="Arial" panose="020B0604020202090204"/>
                <a:ea typeface="Arial" panose="020B0604020202090204"/>
                <a:cs typeface="Arial" panose="020B0604020202090204"/>
              </a:defRPr>
            </a:lvl4pPr>
            <a:lvl5pPr>
              <a:defRPr sz="1875" b="0">
                <a:solidFill>
                  <a:srgbClr val="000000"/>
                </a:solidFill>
                <a:latin typeface="Arial" panose="020B0604020202090204"/>
                <a:ea typeface="Arial" panose="020B0604020202090204"/>
                <a:cs typeface="Arial" panose="020B0604020202090204"/>
              </a:defRPr>
            </a:lvl5pPr>
            <a:lvl6pPr>
              <a:defRPr sz="1875" b="0">
                <a:solidFill>
                  <a:srgbClr val="000000"/>
                </a:solidFill>
                <a:latin typeface="Arial" panose="020B0604020202090204"/>
                <a:ea typeface="Arial" panose="020B0604020202090204"/>
                <a:cs typeface="Arial" panose="020B0604020202090204"/>
              </a:defRPr>
            </a:lvl6pPr>
            <a:lvl7pPr>
              <a:defRPr sz="1875" b="0">
                <a:solidFill>
                  <a:srgbClr val="000000"/>
                </a:solidFill>
                <a:latin typeface="Arial" panose="020B0604020202090204"/>
                <a:ea typeface="Arial" panose="020B0604020202090204"/>
                <a:cs typeface="Arial" panose="020B0604020202090204"/>
              </a:defRPr>
            </a:lvl7pPr>
            <a:lvl8pPr>
              <a:defRPr sz="1875" b="0">
                <a:solidFill>
                  <a:srgbClr val="000000"/>
                </a:solidFill>
                <a:latin typeface="Arial" panose="020B0604020202090204"/>
                <a:ea typeface="Arial" panose="020B0604020202090204"/>
                <a:cs typeface="Arial" panose="020B0604020202090204"/>
              </a:defRPr>
            </a:lvl8pPr>
            <a:lvl9pPr>
              <a:defRPr sz="1875" b="0">
                <a:solidFill>
                  <a:srgbClr val="000000"/>
                </a:solidFill>
                <a:latin typeface="Arial" panose="020B0604020202090204"/>
                <a:ea typeface="Arial" panose="020B0604020202090204"/>
                <a:cs typeface="Arial" panose="020B0604020202090204"/>
              </a:defRPr>
            </a:lvl9pPr>
          </a:lstStyle>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Reject stale claims and requeue changed input.</a:t>
            </a:r>
            <a:endParaRPr sz="187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4  Saved output in the demo</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07</a:t>
            </a:r>
            <a:endParaRPr sz="1200" b="0">
              <a:solidFill>
                <a:srgbClr val="000000"/>
              </a:solidFill>
              <a:latin typeface="Arial" panose="020B0604020202090204"/>
              <a:ea typeface="Arial" panose="020B0604020202090204"/>
              <a:cs typeface="Arial" panose="020B0604020202090204"/>
            </a:endParaRPr>
          </a:p>
        </p:txBody>
      </p:sp>
      <p:pic>
        <p:nvPicPr>
          <p:cNvPr id="5" name="图片 4"/>
          <p:cNvPicPr>
            <a:picLocks noChangeAspect="1"/>
          </p:cNvPicPr>
          <p:nvPr/>
        </p:nvPicPr>
        <p:blipFill>
          <a:blip r:embed="rId2"/>
          <a:stretch>
            <a:fillRect/>
          </a:stretch>
        </p:blipFill>
        <p:spPr>
          <a:xfrm>
            <a:off x="523875" y="1716175"/>
            <a:ext cx="7524750" cy="4235274"/>
          </a:xfrm>
          <a:prstGeom prst="rect">
            <a:avLst/>
          </a:prstGeom>
        </p:spPr>
      </p:pic>
      <p:sp>
        <p:nvSpPr>
          <p:cNvPr id="6" name="矩形 5"/>
          <p:cNvSpPr>
            <a:spLocks noGrp="1"/>
          </p:cNvSpPr>
          <p:nvPr/>
        </p:nvSpPr>
        <p:spPr>
          <a:xfrm>
            <a:off x="8334375" y="1809750"/>
            <a:ext cx="31432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Saved result</a:t>
            </a:r>
            <a:endParaRPr sz="2025" b="1">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8334375" y="2381250"/>
            <a:ext cx="2952750" cy="3238500"/>
          </a:xfrm>
          <a:prstGeom prst="rect">
            <a:avLst/>
          </a:prstGeom>
          <a:noFill/>
          <a:ln w="0">
            <a:noFill/>
          </a:ln>
        </p:spPr>
        <p:txBody>
          <a:bodyPr anchor="t"/>
          <a:lstStyle>
            <a:defPPr>
              <a:defRPr sz="1800" b="0">
                <a:solidFill>
                  <a:srgbClr val="000000"/>
                </a:solidFill>
                <a:latin typeface="Arial" panose="020B0604020202090204"/>
                <a:ea typeface="Arial" panose="020B0604020202090204"/>
                <a:cs typeface="Arial" panose="020B0604020202090204"/>
              </a:defRPr>
            </a:defPPr>
            <a:lvl1pPr>
              <a:defRPr sz="1800" b="0">
                <a:solidFill>
                  <a:srgbClr val="000000"/>
                </a:solidFill>
                <a:latin typeface="Arial" panose="020B0604020202090204"/>
                <a:ea typeface="Arial" panose="020B0604020202090204"/>
                <a:cs typeface="Arial" panose="020B0604020202090204"/>
              </a:defRPr>
            </a:lvl1pPr>
            <a:lvl2pPr>
              <a:defRPr sz="1800" b="0">
                <a:solidFill>
                  <a:srgbClr val="000000"/>
                </a:solidFill>
                <a:latin typeface="Arial" panose="020B0604020202090204"/>
                <a:ea typeface="Arial" panose="020B0604020202090204"/>
                <a:cs typeface="Arial" panose="020B0604020202090204"/>
              </a:defRPr>
            </a:lvl2pPr>
            <a:lvl3pPr>
              <a:defRPr sz="1800" b="0">
                <a:solidFill>
                  <a:srgbClr val="000000"/>
                </a:solidFill>
                <a:latin typeface="Arial" panose="020B0604020202090204"/>
                <a:ea typeface="Arial" panose="020B0604020202090204"/>
                <a:cs typeface="Arial" panose="020B0604020202090204"/>
              </a:defRPr>
            </a:lvl3pPr>
            <a:lvl4pPr>
              <a:defRPr sz="1800" b="0">
                <a:solidFill>
                  <a:srgbClr val="000000"/>
                </a:solidFill>
                <a:latin typeface="Arial" panose="020B0604020202090204"/>
                <a:ea typeface="Arial" panose="020B0604020202090204"/>
                <a:cs typeface="Arial" panose="020B0604020202090204"/>
              </a:defRPr>
            </a:lvl4pPr>
            <a:lvl5pPr>
              <a:defRPr sz="1800" b="0">
                <a:solidFill>
                  <a:srgbClr val="000000"/>
                </a:solidFill>
                <a:latin typeface="Arial" panose="020B0604020202090204"/>
                <a:ea typeface="Arial" panose="020B0604020202090204"/>
                <a:cs typeface="Arial" panose="020B0604020202090204"/>
              </a:defRPr>
            </a:lvl5pPr>
            <a:lvl6pPr>
              <a:defRPr sz="1800" b="0">
                <a:solidFill>
                  <a:srgbClr val="000000"/>
                </a:solidFill>
                <a:latin typeface="Arial" panose="020B0604020202090204"/>
                <a:ea typeface="Arial" panose="020B0604020202090204"/>
                <a:cs typeface="Arial" panose="020B0604020202090204"/>
              </a:defRPr>
            </a:lvl6pPr>
            <a:lvl7pPr>
              <a:defRPr sz="1800" b="0">
                <a:solidFill>
                  <a:srgbClr val="000000"/>
                </a:solidFill>
                <a:latin typeface="Arial" panose="020B0604020202090204"/>
                <a:ea typeface="Arial" panose="020B0604020202090204"/>
                <a:cs typeface="Arial" panose="020B0604020202090204"/>
              </a:defRPr>
            </a:lvl7pPr>
            <a:lvl8pPr>
              <a:defRPr sz="1800" b="0">
                <a:solidFill>
                  <a:srgbClr val="000000"/>
                </a:solidFill>
                <a:latin typeface="Arial" panose="020B0604020202090204"/>
                <a:ea typeface="Arial" panose="020B0604020202090204"/>
                <a:cs typeface="Arial" panose="020B0604020202090204"/>
              </a:defRPr>
            </a:lvl8pPr>
            <a:lvl9pPr>
              <a:defRPr sz="1800" b="0">
                <a:solidFill>
                  <a:srgbClr val="000000"/>
                </a:solidFill>
                <a:latin typeface="Arial" panose="020B0604020202090204"/>
                <a:ea typeface="Arial" panose="020B0604020202090204"/>
                <a:cs typeface="Arial" panose="020B0604020202090204"/>
              </a:defRPr>
            </a:lvl9pPr>
          </a:lstStyle>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Completed</a:t>
            </a:r>
            <a:endParaRPr sz="1800" b="0">
              <a:solidFill>
                <a:srgbClr val="000000"/>
              </a:solidFill>
              <a:latin typeface="Arial" panose="020B0604020202090204"/>
              <a:ea typeface="Arial" panose="020B0604020202090204"/>
              <a:cs typeface="Arial" panose="020B0604020202090204"/>
            </a:endParaRPr>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First attempt: 1 / 3</a:t>
            </a:r>
            <a:endParaRPr sz="1800" b="0">
              <a:solidFill>
                <a:srgbClr val="000000"/>
              </a:solidFill>
              <a:latin typeface="Arial" panose="020B0604020202090204"/>
              <a:ea typeface="Arial" panose="020B0604020202090204"/>
              <a:cs typeface="Arial" panose="020B0604020202090204"/>
            </a:endParaRPr>
          </a:p>
          <a:p>
            <a:endParaRPr sz="1800"/>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Category: Quality</a:t>
            </a:r>
            <a:endParaRPr sz="1800" b="0">
              <a:solidFill>
                <a:srgbClr val="000000"/>
              </a:solidFill>
              <a:latin typeface="Arial" panose="020B0604020202090204"/>
              <a:ea typeface="Arial" panose="020B0604020202090204"/>
              <a:cs typeface="Arial" panose="020B0604020202090204"/>
            </a:endParaRPr>
          </a:p>
          <a:p>
            <a:endParaRPr sz="1800"/>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Original evidence</a:t>
            </a:r>
            <a:endParaRPr sz="1800" b="0">
              <a:solidFill>
                <a:srgbClr val="000000"/>
              </a:solidFill>
              <a:latin typeface="Arial" panose="020B0604020202090204"/>
              <a:ea typeface="Arial" panose="020B0604020202090204"/>
              <a:cs typeface="Arial" panose="020B0604020202090204"/>
            </a:endParaRPr>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A zipper gets stuck halfway</a:t>
            </a:r>
            <a:endParaRPr sz="1800" b="0">
              <a:solidFill>
                <a:srgbClr val="000000"/>
              </a:solidFill>
              <a:latin typeface="Arial" panose="020B0604020202090204"/>
              <a:ea typeface="Arial" panose="020B0604020202090204"/>
              <a:cs typeface="Arial" panose="020B0604020202090204"/>
            </a:endParaRPr>
          </a:p>
          <a:p>
            <a:endParaRPr sz="1800"/>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Saved attempt history</a:t>
            </a:r>
            <a:endParaRPr sz="1800"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Result persistence and traceability</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08</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61925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One successful transaction</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190750"/>
            <a:ext cx="5048250" cy="2000250"/>
          </a:xfrm>
          <a:prstGeom prst="rect">
            <a:avLst/>
          </a:prstGeom>
          <a:noFill/>
          <a:ln w="0">
            <a:noFill/>
          </a:ln>
        </p:spPr>
        <p:txBody>
          <a:bodyPr anchor="t"/>
          <a:lstStyle>
            <a:defPPr>
              <a:defRPr sz="2025" b="0">
                <a:solidFill>
                  <a:srgbClr val="000000"/>
                </a:solidFill>
                <a:latin typeface="Arial" panose="020B0604020202090204"/>
                <a:ea typeface="Arial" panose="020B0604020202090204"/>
                <a:cs typeface="Arial" panose="020B0604020202090204"/>
              </a:defRPr>
            </a:defPPr>
            <a:lvl1pPr>
              <a:defRPr sz="2025" b="0">
                <a:solidFill>
                  <a:srgbClr val="000000"/>
                </a:solidFill>
                <a:latin typeface="Arial" panose="020B0604020202090204"/>
                <a:ea typeface="Arial" panose="020B0604020202090204"/>
                <a:cs typeface="Arial" panose="020B0604020202090204"/>
              </a:defRPr>
            </a:lvl1pPr>
            <a:lvl2pPr>
              <a:defRPr sz="2025" b="0">
                <a:solidFill>
                  <a:srgbClr val="000000"/>
                </a:solidFill>
                <a:latin typeface="Arial" panose="020B0604020202090204"/>
                <a:ea typeface="Arial" panose="020B0604020202090204"/>
                <a:cs typeface="Arial" panose="020B0604020202090204"/>
              </a:defRPr>
            </a:lvl2pPr>
            <a:lvl3pPr>
              <a:defRPr sz="2025" b="0">
                <a:solidFill>
                  <a:srgbClr val="000000"/>
                </a:solidFill>
                <a:latin typeface="Arial" panose="020B0604020202090204"/>
                <a:ea typeface="Arial" panose="020B0604020202090204"/>
                <a:cs typeface="Arial" panose="020B0604020202090204"/>
              </a:defRPr>
            </a:lvl3pPr>
            <a:lvl4pPr>
              <a:defRPr sz="2025" b="0">
                <a:solidFill>
                  <a:srgbClr val="000000"/>
                </a:solidFill>
                <a:latin typeface="Arial" panose="020B0604020202090204"/>
                <a:ea typeface="Arial" panose="020B0604020202090204"/>
                <a:cs typeface="Arial" panose="020B0604020202090204"/>
              </a:defRPr>
            </a:lvl4pPr>
            <a:lvl5pPr>
              <a:defRPr sz="2025" b="0">
                <a:solidFill>
                  <a:srgbClr val="000000"/>
                </a:solidFill>
                <a:latin typeface="Arial" panose="020B0604020202090204"/>
                <a:ea typeface="Arial" panose="020B0604020202090204"/>
                <a:cs typeface="Arial" panose="020B0604020202090204"/>
              </a:defRPr>
            </a:lvl5pPr>
            <a:lvl6pPr>
              <a:defRPr sz="2025" b="0">
                <a:solidFill>
                  <a:srgbClr val="000000"/>
                </a:solidFill>
                <a:latin typeface="Arial" panose="020B0604020202090204"/>
                <a:ea typeface="Arial" panose="020B0604020202090204"/>
                <a:cs typeface="Arial" panose="020B0604020202090204"/>
              </a:defRPr>
            </a:lvl6pPr>
            <a:lvl7pPr>
              <a:defRPr sz="2025" b="0">
                <a:solidFill>
                  <a:srgbClr val="000000"/>
                </a:solidFill>
                <a:latin typeface="Arial" panose="020B0604020202090204"/>
                <a:ea typeface="Arial" panose="020B0604020202090204"/>
                <a:cs typeface="Arial" panose="020B0604020202090204"/>
              </a:defRPr>
            </a:lvl7pPr>
            <a:lvl8pPr>
              <a:defRPr sz="2025" b="0">
                <a:solidFill>
                  <a:srgbClr val="000000"/>
                </a:solidFill>
                <a:latin typeface="Arial" panose="020B0604020202090204"/>
                <a:ea typeface="Arial" panose="020B0604020202090204"/>
                <a:cs typeface="Arial" panose="020B0604020202090204"/>
              </a:defRPr>
            </a:lvl8pPr>
            <a:lvl9pPr>
              <a:defRPr sz="2025" b="0">
                <a:solidFill>
                  <a:srgbClr val="000000"/>
                </a:solidFill>
                <a:latin typeface="Arial" panose="020B0604020202090204"/>
                <a:ea typeface="Arial" panose="020B0604020202090204"/>
                <a:cs typeface="Arial" panose="020B0604020202090204"/>
              </a:defRPr>
            </a:lvl9pPr>
          </a:lstStyle>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AnalysisRun records the response.</a:t>
            </a:r>
            <a:endParaRPr sz="2025" b="0">
              <a:solidFill>
                <a:srgbClr val="000000"/>
              </a:solidFill>
              <a:latin typeface="Arial" panose="020B0604020202090204"/>
              <a:ea typeface="Arial" panose="020B0604020202090204"/>
              <a:cs typeface="Arial" panose="020B0604020202090204"/>
            </a:endParaRPr>
          </a:p>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CommentIssue stores source evidence.</a:t>
            </a:r>
            <a:endParaRPr sz="2025" b="0">
              <a:solidFill>
                <a:srgbClr val="000000"/>
              </a:solidFill>
              <a:latin typeface="Arial" panose="020B0604020202090204"/>
              <a:ea typeface="Arial" panose="020B0604020202090204"/>
              <a:cs typeface="Arial" panose="020B0604020202090204"/>
            </a:endParaRPr>
          </a:p>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Comment points to its current analysis.</a:t>
            </a:r>
            <a:endParaRPr sz="2025" b="0">
              <a:solidFill>
                <a:srgbClr val="000000"/>
              </a:solidFill>
              <a:latin typeface="Arial" panose="020B0604020202090204"/>
              <a:ea typeface="Arial" panose="020B0604020202090204"/>
              <a:cs typeface="Arial" panose="020B0604020202090204"/>
            </a:endParaRPr>
          </a:p>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Job reaches completed.</a:t>
            </a:r>
            <a:endParaRPr sz="2025"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286500" y="1619250"/>
            <a:ext cx="45720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Implementation excerpt</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286500" y="2190750"/>
            <a:ext cx="4762500" cy="2428875"/>
          </a:xfrm>
          <a:prstGeom prst="rect">
            <a:avLst/>
          </a:prstGeom>
          <a:noFill/>
          <a:ln w="0">
            <a:noFill/>
          </a:ln>
        </p:spPr>
        <p:txBody>
          <a:bodyPr anchor="t"/>
          <a:lstStyle>
            <a:defPPr>
              <a:defRPr sz="1425" b="1">
                <a:solidFill>
                  <a:srgbClr val="000000"/>
                </a:solidFill>
                <a:latin typeface="Courier New" panose="02070409020205090404"/>
                <a:ea typeface="Courier New" panose="02070409020205090404"/>
                <a:cs typeface="Courier New" panose="02070409020205090404"/>
              </a:defRPr>
            </a:defPPr>
            <a:lvl1pPr>
              <a:defRPr sz="1425" b="1">
                <a:solidFill>
                  <a:srgbClr val="000000"/>
                </a:solidFill>
                <a:latin typeface="Courier New" panose="02070409020205090404"/>
                <a:ea typeface="Courier New" panose="02070409020205090404"/>
                <a:cs typeface="Courier New" panose="02070409020205090404"/>
              </a:defRPr>
            </a:lvl1pPr>
            <a:lvl2pPr>
              <a:defRPr sz="1425" b="1">
                <a:solidFill>
                  <a:srgbClr val="000000"/>
                </a:solidFill>
                <a:latin typeface="Courier New" panose="02070409020205090404"/>
                <a:ea typeface="Courier New" panose="02070409020205090404"/>
                <a:cs typeface="Courier New" panose="02070409020205090404"/>
              </a:defRPr>
            </a:lvl2pPr>
            <a:lvl3pPr>
              <a:defRPr sz="1425" b="1">
                <a:solidFill>
                  <a:srgbClr val="000000"/>
                </a:solidFill>
                <a:latin typeface="Courier New" panose="02070409020205090404"/>
                <a:ea typeface="Courier New" panose="02070409020205090404"/>
                <a:cs typeface="Courier New" panose="02070409020205090404"/>
              </a:defRPr>
            </a:lvl3pPr>
            <a:lvl4pPr>
              <a:defRPr sz="1425" b="1">
                <a:solidFill>
                  <a:srgbClr val="000000"/>
                </a:solidFill>
                <a:latin typeface="Courier New" panose="02070409020205090404"/>
                <a:ea typeface="Courier New" panose="02070409020205090404"/>
                <a:cs typeface="Courier New" panose="02070409020205090404"/>
              </a:defRPr>
            </a:lvl4pPr>
            <a:lvl5pPr>
              <a:defRPr sz="1425" b="1">
                <a:solidFill>
                  <a:srgbClr val="000000"/>
                </a:solidFill>
                <a:latin typeface="Courier New" panose="02070409020205090404"/>
                <a:ea typeface="Courier New" panose="02070409020205090404"/>
                <a:cs typeface="Courier New" panose="02070409020205090404"/>
              </a:defRPr>
            </a:lvl5pPr>
            <a:lvl6pPr>
              <a:defRPr sz="1425" b="1">
                <a:solidFill>
                  <a:srgbClr val="000000"/>
                </a:solidFill>
                <a:latin typeface="Courier New" panose="02070409020205090404"/>
                <a:ea typeface="Courier New" panose="02070409020205090404"/>
                <a:cs typeface="Courier New" panose="02070409020205090404"/>
              </a:defRPr>
            </a:lvl6pPr>
            <a:lvl7pPr>
              <a:defRPr sz="1425" b="1">
                <a:solidFill>
                  <a:srgbClr val="000000"/>
                </a:solidFill>
                <a:latin typeface="Courier New" panose="02070409020205090404"/>
                <a:ea typeface="Courier New" panose="02070409020205090404"/>
                <a:cs typeface="Courier New" panose="02070409020205090404"/>
              </a:defRPr>
            </a:lvl7pPr>
            <a:lvl8pPr>
              <a:defRPr sz="1425" b="1">
                <a:solidFill>
                  <a:srgbClr val="000000"/>
                </a:solidFill>
                <a:latin typeface="Courier New" panose="02070409020205090404"/>
                <a:ea typeface="Courier New" panose="02070409020205090404"/>
                <a:cs typeface="Courier New" panose="02070409020205090404"/>
              </a:defRPr>
            </a:lvl8pPr>
            <a:lvl9pPr>
              <a:defRPr sz="1425" b="1">
                <a:solidFill>
                  <a:srgbClr val="000000"/>
                </a:solidFill>
                <a:latin typeface="Courier New" panose="02070409020205090404"/>
                <a:ea typeface="Courier New" panose="02070409020205090404"/>
                <a:cs typeface="Courier New" panose="02070409020205090404"/>
              </a:defRPr>
            </a:lvl9pPr>
          </a:lstStyle>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save_issue_links(</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    db, snapshot, verified, run.id</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comment.has_issue = verified.has_issue</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comment.current_analysis_run_id = run.id</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job.status = JobStatus.COMPLETED.value</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 ...</a:t>
            </a:r>
            <a:endParaRPr sz="1425" b="1">
              <a:solidFill>
                <a:srgbClr val="000000"/>
              </a:solidFill>
              <a:latin typeface="Courier New" panose="02070409020205090404"/>
              <a:ea typeface="Courier New" panose="02070409020205090404"/>
              <a:cs typeface="Courier New" panose="02070409020205090404"/>
            </a:endParaRPr>
          </a:p>
          <a:p>
            <a:pPr>
              <a:defRPr sz="1425" b="0">
                <a:solidFill>
                  <a:srgbClr val="000000"/>
                </a:solidFill>
                <a:latin typeface="Arial" panose="020B0604020202090204"/>
                <a:ea typeface="Arial" panose="020B0604020202090204"/>
                <a:cs typeface="Arial" panose="020B0604020202090204"/>
              </a:defRPr>
            </a:pPr>
            <a:r>
              <a:rPr sz="1425" b="1">
                <a:solidFill>
                  <a:srgbClr val="000000"/>
                </a:solidFill>
                <a:latin typeface="Courier New" panose="02070409020205090404"/>
                <a:ea typeface="Courier New" panose="02070409020205090404"/>
                <a:cs typeface="Courier New" panose="02070409020205090404"/>
              </a:rPr>
              <a:t>db.commit()</a:t>
            </a:r>
            <a:endParaRPr sz="1425" b="1">
              <a:solidFill>
                <a:srgbClr val="000000"/>
              </a:solidFill>
              <a:latin typeface="Courier New" panose="02070409020205090404"/>
              <a:ea typeface="Courier New" panose="02070409020205090404"/>
              <a:cs typeface="Courier New" panose="02070409020205090404"/>
            </a:endParaRPr>
          </a:p>
        </p:txBody>
      </p:sp>
      <p:sp>
        <p:nvSpPr>
          <p:cNvPr id="9" name="矩形 8"/>
          <p:cNvSpPr>
            <a:spLocks noGrp="1"/>
          </p:cNvSpPr>
          <p:nvPr/>
        </p:nvSpPr>
        <p:spPr>
          <a:xfrm>
            <a:off x="609600" y="5048250"/>
            <a:ext cx="10191750" cy="952500"/>
          </a:xfrm>
          <a:prstGeom prst="rect">
            <a:avLst/>
          </a:prstGeom>
          <a:noFill/>
          <a:ln w="0">
            <a:noFill/>
          </a:ln>
        </p:spPr>
        <p:txBody>
          <a:bodyPr anchor="t"/>
          <a:lstStyle>
            <a:defPPr>
              <a:defRPr sz="1875" b="0">
                <a:solidFill>
                  <a:srgbClr val="000000"/>
                </a:solidFill>
                <a:latin typeface="Arial" panose="020B0604020202090204"/>
                <a:ea typeface="Arial" panose="020B0604020202090204"/>
                <a:cs typeface="Arial" panose="020B0604020202090204"/>
              </a:defRPr>
            </a:defPPr>
            <a:lvl1pPr>
              <a:defRPr sz="1875" b="0">
                <a:solidFill>
                  <a:srgbClr val="000000"/>
                </a:solidFill>
                <a:latin typeface="Arial" panose="020B0604020202090204"/>
                <a:ea typeface="Arial" panose="020B0604020202090204"/>
                <a:cs typeface="Arial" panose="020B0604020202090204"/>
              </a:defRPr>
            </a:lvl1pPr>
            <a:lvl2pPr>
              <a:defRPr sz="1875" b="0">
                <a:solidFill>
                  <a:srgbClr val="000000"/>
                </a:solidFill>
                <a:latin typeface="Arial" panose="020B0604020202090204"/>
                <a:ea typeface="Arial" panose="020B0604020202090204"/>
                <a:cs typeface="Arial" panose="020B0604020202090204"/>
              </a:defRPr>
            </a:lvl2pPr>
            <a:lvl3pPr>
              <a:defRPr sz="1875" b="0">
                <a:solidFill>
                  <a:srgbClr val="000000"/>
                </a:solidFill>
                <a:latin typeface="Arial" panose="020B0604020202090204"/>
                <a:ea typeface="Arial" panose="020B0604020202090204"/>
                <a:cs typeface="Arial" panose="020B0604020202090204"/>
              </a:defRPr>
            </a:lvl3pPr>
            <a:lvl4pPr>
              <a:defRPr sz="1875" b="0">
                <a:solidFill>
                  <a:srgbClr val="000000"/>
                </a:solidFill>
                <a:latin typeface="Arial" panose="020B0604020202090204"/>
                <a:ea typeface="Arial" panose="020B0604020202090204"/>
                <a:cs typeface="Arial" panose="020B0604020202090204"/>
              </a:defRPr>
            </a:lvl4pPr>
            <a:lvl5pPr>
              <a:defRPr sz="1875" b="0">
                <a:solidFill>
                  <a:srgbClr val="000000"/>
                </a:solidFill>
                <a:latin typeface="Arial" panose="020B0604020202090204"/>
                <a:ea typeface="Arial" panose="020B0604020202090204"/>
                <a:cs typeface="Arial" panose="020B0604020202090204"/>
              </a:defRPr>
            </a:lvl5pPr>
            <a:lvl6pPr>
              <a:defRPr sz="1875" b="0">
                <a:solidFill>
                  <a:srgbClr val="000000"/>
                </a:solidFill>
                <a:latin typeface="Arial" panose="020B0604020202090204"/>
                <a:ea typeface="Arial" panose="020B0604020202090204"/>
                <a:cs typeface="Arial" panose="020B0604020202090204"/>
              </a:defRPr>
            </a:lvl6pPr>
            <a:lvl7pPr>
              <a:defRPr sz="1875" b="0">
                <a:solidFill>
                  <a:srgbClr val="000000"/>
                </a:solidFill>
                <a:latin typeface="Arial" panose="020B0604020202090204"/>
                <a:ea typeface="Arial" panose="020B0604020202090204"/>
                <a:cs typeface="Arial" panose="020B0604020202090204"/>
              </a:defRPr>
            </a:lvl7pPr>
            <a:lvl8pPr>
              <a:defRPr sz="1875" b="0">
                <a:solidFill>
                  <a:srgbClr val="000000"/>
                </a:solidFill>
                <a:latin typeface="Arial" panose="020B0604020202090204"/>
                <a:ea typeface="Arial" panose="020B0604020202090204"/>
                <a:cs typeface="Arial" panose="020B0604020202090204"/>
              </a:defRPr>
            </a:lvl8pPr>
            <a:lvl9pPr>
              <a:defRPr sz="1875" b="0">
                <a:solidFill>
                  <a:srgbClr val="000000"/>
                </a:solidFill>
                <a:latin typeface="Arial" panose="020B0604020202090204"/>
                <a:ea typeface="Arial" panose="020B0604020202090204"/>
                <a:cs typeface="Arial" panose="020B0604020202090204"/>
              </a:defRPr>
            </a:lvl9pPr>
          </a:lstStyle>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Starting a new round preserves earlier database records. A documented restart check retained five jobs and eight analysis runs from an earlier five-case run.</a:t>
            </a:r>
            <a:endParaRPr sz="187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Bounded retries and final failure</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09</a:t>
            </a:r>
            <a:endParaRPr sz="1200" b="0">
              <a:solidFill>
                <a:srgbClr val="000000"/>
              </a:solidFill>
              <a:latin typeface="Arial" panose="020B0604020202090204"/>
              <a:ea typeface="Arial" panose="020B0604020202090204"/>
              <a:cs typeface="Arial" panose="020B0604020202090204"/>
            </a:endParaRPr>
          </a:p>
        </p:txBody>
      </p:sp>
      <p:graphicFrame>
        <p:nvGraphicFramePr>
          <p:cNvPr id="5" name="表格 4"/>
          <p:cNvGraphicFramePr/>
          <p:nvPr/>
        </p:nvGraphicFramePr>
        <p:xfrm>
          <a:off x="609600" y="1714500"/>
          <a:ext cx="10287000" cy="2952752"/>
        </p:xfrm>
        <a:graphic>
          <a:graphicData uri="http://schemas.openxmlformats.org/drawingml/2006/table">
            <a:tbl>
              <a:tblPr/>
              <a:tblGrid>
                <a:gridCol w="3429000"/>
                <a:gridCol w="3429000"/>
                <a:gridCol w="3429000"/>
              </a:tblGrid>
              <a:tr h="738188">
                <a:tc>
                  <a:txBody>
                    <a:bodyPr/>
                    <a:lstStyle/>
                    <a:p>
                      <a:r>
                        <a:rPr sz="1800" b="1">
                          <a:solidFill>
                            <a:srgbClr val="000000"/>
                          </a:solidFill>
                          <a:latin typeface="Arial" panose="020B0604020202090204"/>
                          <a:ea typeface="Arial" panose="020B0604020202090204"/>
                          <a:cs typeface="Arial" panose="020B0604020202090204"/>
                        </a:rPr>
                        <a:t>Scenario</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c>
                  <a:txBody>
                    <a:bodyPr/>
                    <a:lstStyle/>
                    <a:p>
                      <a:r>
                        <a:rPr sz="1800" b="1">
                          <a:solidFill>
                            <a:srgbClr val="000000"/>
                          </a:solidFill>
                          <a:latin typeface="Arial" panose="020B0604020202090204"/>
                          <a:ea typeface="Arial" panose="020B0604020202090204"/>
                          <a:cs typeface="Arial" panose="020B0604020202090204"/>
                        </a:rPr>
                        <a:t>Expected execution</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c>
                  <a:txBody>
                    <a:bodyPr/>
                    <a:lstStyle/>
                    <a:p>
                      <a:r>
                        <a:rPr sz="1800" b="1">
                          <a:solidFill>
                            <a:srgbClr val="000000"/>
                          </a:solidFill>
                          <a:latin typeface="Arial" panose="020B0604020202090204"/>
                          <a:ea typeface="Arial" panose="020B0604020202090204"/>
                          <a:cs typeface="Arial" panose="020B0604020202090204"/>
                        </a:rPr>
                        <a:t>Stored terminal state</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r>
              <a:tr h="738188">
                <a:tc>
                  <a:txBody>
                    <a:bodyPr/>
                    <a:lstStyle/>
                    <a:p>
                      <a:r>
                        <a:rPr sz="1725">
                          <a:solidFill>
                            <a:srgbClr val="000000"/>
                          </a:solidFill>
                          <a:latin typeface="Arial" panose="020B0604020202090204"/>
                          <a:ea typeface="Arial" panose="020B0604020202090204"/>
                          <a:cs typeface="Arial" panose="020B0604020202090204"/>
                        </a:rPr>
                        <a:t>Normal analysis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Attempt 1 succeeds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completed</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738188">
                <a:tc>
                  <a:txBody>
                    <a:bodyPr/>
                    <a:lstStyle/>
                    <a:p>
                      <a:r>
                        <a:rPr sz="1725">
                          <a:solidFill>
                            <a:srgbClr val="000000"/>
                          </a:solidFill>
                          <a:latin typeface="Arial" panose="020B0604020202090204"/>
                          <a:ea typeface="Arial" panose="020B0604020202090204"/>
                          <a:cs typeface="Arial" panose="020B0604020202090204"/>
                        </a:rPr>
                        <a:t>Fail once, then retry</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Attempt 2 succeeds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completed</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738188">
                <a:tc>
                  <a:txBody>
                    <a:bodyPr/>
                    <a:lstStyle/>
                    <a:p>
                      <a:r>
                        <a:rPr sz="1725">
                          <a:solidFill>
                            <a:srgbClr val="000000"/>
                          </a:solidFill>
                          <a:latin typeface="Arial" panose="020B0604020202090204"/>
                          <a:ea typeface="Arial" panose="020B0604020202090204"/>
                          <a:cs typeface="Arial" panose="020B0604020202090204"/>
                        </a:rPr>
                        <a:t>Fail until the attempt limit</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Three failed attempts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failed</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bl>
          </a:graphicData>
        </a:graphic>
      </p:graphicFrame>
      <p:sp>
        <p:nvSpPr>
          <p:cNvPr id="6" name="矩形 5"/>
          <p:cNvSpPr>
            <a:spLocks noGrp="1"/>
          </p:cNvSpPr>
          <p:nvPr/>
        </p:nvSpPr>
        <p:spPr>
          <a:xfrm>
            <a:off x="609600" y="5095875"/>
            <a:ext cx="10096500" cy="904875"/>
          </a:xfrm>
          <a:prstGeom prst="rect">
            <a:avLst/>
          </a:prstGeom>
          <a:noFill/>
          <a:ln w="0">
            <a:noFill/>
          </a:ln>
        </p:spPr>
        <p:txBody>
          <a:bodyPr anchor="t"/>
          <a:lstStyle>
            <a:defPPr>
              <a:defRPr sz="2025" b="0">
                <a:solidFill>
                  <a:srgbClr val="000000"/>
                </a:solidFill>
                <a:latin typeface="Arial" panose="020B0604020202090204"/>
                <a:ea typeface="Arial" panose="020B0604020202090204"/>
                <a:cs typeface="Arial" panose="020B0604020202090204"/>
              </a:defRPr>
            </a:defPPr>
            <a:lvl1pPr>
              <a:defRPr sz="2025" b="0">
                <a:solidFill>
                  <a:srgbClr val="000000"/>
                </a:solidFill>
                <a:latin typeface="Arial" panose="020B0604020202090204"/>
                <a:ea typeface="Arial" panose="020B0604020202090204"/>
                <a:cs typeface="Arial" panose="020B0604020202090204"/>
              </a:defRPr>
            </a:lvl1pPr>
            <a:lvl2pPr>
              <a:defRPr sz="2025" b="0">
                <a:solidFill>
                  <a:srgbClr val="000000"/>
                </a:solidFill>
                <a:latin typeface="Arial" panose="020B0604020202090204"/>
                <a:ea typeface="Arial" panose="020B0604020202090204"/>
                <a:cs typeface="Arial" panose="020B0604020202090204"/>
              </a:defRPr>
            </a:lvl2pPr>
            <a:lvl3pPr>
              <a:defRPr sz="2025" b="0">
                <a:solidFill>
                  <a:srgbClr val="000000"/>
                </a:solidFill>
                <a:latin typeface="Arial" panose="020B0604020202090204"/>
                <a:ea typeface="Arial" panose="020B0604020202090204"/>
                <a:cs typeface="Arial" panose="020B0604020202090204"/>
              </a:defRPr>
            </a:lvl3pPr>
            <a:lvl4pPr>
              <a:defRPr sz="2025" b="0">
                <a:solidFill>
                  <a:srgbClr val="000000"/>
                </a:solidFill>
                <a:latin typeface="Arial" panose="020B0604020202090204"/>
                <a:ea typeface="Arial" panose="020B0604020202090204"/>
                <a:cs typeface="Arial" panose="020B0604020202090204"/>
              </a:defRPr>
            </a:lvl4pPr>
            <a:lvl5pPr>
              <a:defRPr sz="2025" b="0">
                <a:solidFill>
                  <a:srgbClr val="000000"/>
                </a:solidFill>
                <a:latin typeface="Arial" panose="020B0604020202090204"/>
                <a:ea typeface="Arial" panose="020B0604020202090204"/>
                <a:cs typeface="Arial" panose="020B0604020202090204"/>
              </a:defRPr>
            </a:lvl5pPr>
            <a:lvl6pPr>
              <a:defRPr sz="2025" b="0">
                <a:solidFill>
                  <a:srgbClr val="000000"/>
                </a:solidFill>
                <a:latin typeface="Arial" panose="020B0604020202090204"/>
                <a:ea typeface="Arial" panose="020B0604020202090204"/>
                <a:cs typeface="Arial" panose="020B0604020202090204"/>
              </a:defRPr>
            </a:lvl6pPr>
            <a:lvl7pPr>
              <a:defRPr sz="2025" b="0">
                <a:solidFill>
                  <a:srgbClr val="000000"/>
                </a:solidFill>
                <a:latin typeface="Arial" panose="020B0604020202090204"/>
                <a:ea typeface="Arial" panose="020B0604020202090204"/>
                <a:cs typeface="Arial" panose="020B0604020202090204"/>
              </a:defRPr>
            </a:lvl7pPr>
            <a:lvl8pPr>
              <a:defRPr sz="2025" b="0">
                <a:solidFill>
                  <a:srgbClr val="000000"/>
                </a:solidFill>
                <a:latin typeface="Arial" panose="020B0604020202090204"/>
                <a:ea typeface="Arial" panose="020B0604020202090204"/>
                <a:cs typeface="Arial" panose="020B0604020202090204"/>
              </a:defRPr>
            </a:lvl8pPr>
            <a:lvl9pPr>
              <a:defRPr sz="2025" b="0">
                <a:solidFill>
                  <a:srgbClr val="000000"/>
                </a:solidFill>
                <a:latin typeface="Arial" panose="020B0604020202090204"/>
                <a:ea typeface="Arial" panose="020B0604020202090204"/>
                <a:cs typeface="Arial" panose="020B0604020202090204"/>
              </a:defRPr>
            </a:lvl9pPr>
          </a:lstStyle>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The demo injects HTTP 503 failures. Each analysis call pauses for three seconds. Retry waits are three and six seconds.</a:t>
            </a:r>
            <a:endParaRPr sz="202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5  Operational signals</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10</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61925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Visible on the demo page</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143125"/>
            <a:ext cx="4572000" cy="1857375"/>
          </a:xfrm>
          <a:prstGeom prst="rect">
            <a:avLst/>
          </a:prstGeom>
          <a:noFill/>
          <a:ln w="0">
            <a:noFill/>
          </a:ln>
        </p:spPr>
        <p:txBody>
          <a:bodyPr anchor="t"/>
          <a:lstStyle>
            <a:defPPr>
              <a:defRPr sz="2100" b="0">
                <a:solidFill>
                  <a:srgbClr val="000000"/>
                </a:solidFill>
                <a:latin typeface="Arial" panose="020B0604020202090204"/>
                <a:ea typeface="Arial" panose="020B0604020202090204"/>
                <a:cs typeface="Arial" panose="020B0604020202090204"/>
              </a:defRPr>
            </a:defPPr>
            <a:lvl1pPr>
              <a:defRPr sz="2100" b="0">
                <a:solidFill>
                  <a:srgbClr val="000000"/>
                </a:solidFill>
                <a:latin typeface="Arial" panose="020B0604020202090204"/>
                <a:ea typeface="Arial" panose="020B0604020202090204"/>
                <a:cs typeface="Arial" panose="020B0604020202090204"/>
              </a:defRPr>
            </a:lvl1pPr>
            <a:lvl2pPr>
              <a:defRPr sz="2100" b="0">
                <a:solidFill>
                  <a:srgbClr val="000000"/>
                </a:solidFill>
                <a:latin typeface="Arial" panose="020B0604020202090204"/>
                <a:ea typeface="Arial" panose="020B0604020202090204"/>
                <a:cs typeface="Arial" panose="020B0604020202090204"/>
              </a:defRPr>
            </a:lvl2pPr>
            <a:lvl3pPr>
              <a:defRPr sz="2100" b="0">
                <a:solidFill>
                  <a:srgbClr val="000000"/>
                </a:solidFill>
                <a:latin typeface="Arial" panose="020B0604020202090204"/>
                <a:ea typeface="Arial" panose="020B0604020202090204"/>
                <a:cs typeface="Arial" panose="020B0604020202090204"/>
              </a:defRPr>
            </a:lvl3pPr>
            <a:lvl4pPr>
              <a:defRPr sz="2100" b="0">
                <a:solidFill>
                  <a:srgbClr val="000000"/>
                </a:solidFill>
                <a:latin typeface="Arial" panose="020B0604020202090204"/>
                <a:ea typeface="Arial" panose="020B0604020202090204"/>
                <a:cs typeface="Arial" panose="020B0604020202090204"/>
              </a:defRPr>
            </a:lvl4pPr>
            <a:lvl5pPr>
              <a:defRPr sz="2100" b="0">
                <a:solidFill>
                  <a:srgbClr val="000000"/>
                </a:solidFill>
                <a:latin typeface="Arial" panose="020B0604020202090204"/>
                <a:ea typeface="Arial" panose="020B0604020202090204"/>
                <a:cs typeface="Arial" panose="020B0604020202090204"/>
              </a:defRPr>
            </a:lvl5pPr>
            <a:lvl6pPr>
              <a:defRPr sz="2100" b="0">
                <a:solidFill>
                  <a:srgbClr val="000000"/>
                </a:solidFill>
                <a:latin typeface="Arial" panose="020B0604020202090204"/>
                <a:ea typeface="Arial" panose="020B0604020202090204"/>
                <a:cs typeface="Arial" panose="020B0604020202090204"/>
              </a:defRPr>
            </a:lvl6pPr>
            <a:lvl7pPr>
              <a:defRPr sz="2100" b="0">
                <a:solidFill>
                  <a:srgbClr val="000000"/>
                </a:solidFill>
                <a:latin typeface="Arial" panose="020B0604020202090204"/>
                <a:ea typeface="Arial" panose="020B0604020202090204"/>
                <a:cs typeface="Arial" panose="020B0604020202090204"/>
              </a:defRPr>
            </a:lvl7pPr>
            <a:lvl8pPr>
              <a:defRPr sz="2100" b="0">
                <a:solidFill>
                  <a:srgbClr val="000000"/>
                </a:solidFill>
                <a:latin typeface="Arial" panose="020B0604020202090204"/>
                <a:ea typeface="Arial" panose="020B0604020202090204"/>
                <a:cs typeface="Arial" panose="020B0604020202090204"/>
              </a:defRPr>
            </a:lvl8pPr>
            <a:lvl9pPr>
              <a:defRPr sz="2100" b="0">
                <a:solidFill>
                  <a:srgbClr val="000000"/>
                </a:solidFill>
                <a:latin typeface="Arial" panose="020B0604020202090204"/>
                <a:ea typeface="Arial" panose="020B0604020202090204"/>
                <a:cs typeface="Arial" panose="020B0604020202090204"/>
              </a:defRPr>
            </a:lvl9pPr>
          </a:lstStyle>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Current state</a:t>
            </a:r>
            <a:endParaRPr sz="2100" b="0">
              <a:solidFill>
                <a:srgbClr val="000000"/>
              </a:solidFill>
              <a:latin typeface="Arial" panose="020B0604020202090204"/>
              <a:ea typeface="Arial" panose="020B0604020202090204"/>
              <a:cs typeface="Arial" panose="020B0604020202090204"/>
            </a:endParaRPr>
          </a:p>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Attempt count and limit</a:t>
            </a:r>
            <a:endParaRPr sz="2100" b="0">
              <a:solidFill>
                <a:srgbClr val="000000"/>
              </a:solidFill>
              <a:latin typeface="Arial" panose="020B0604020202090204"/>
              <a:ea typeface="Arial" panose="020B0604020202090204"/>
              <a:cs typeface="Arial" panose="020B0604020202090204"/>
            </a:endParaRPr>
          </a:p>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Retry wait and error code</a:t>
            </a:r>
            <a:endParaRPr sz="2100" b="0">
              <a:solidFill>
                <a:srgbClr val="000000"/>
              </a:solidFill>
              <a:latin typeface="Arial" panose="020B0604020202090204"/>
              <a:ea typeface="Arial" panose="020B0604020202090204"/>
              <a:cs typeface="Arial" panose="020B0604020202090204"/>
            </a:endParaRPr>
          </a:p>
          <a:p>
            <a:pPr>
              <a:defRPr sz="2100" b="0">
                <a:solidFill>
                  <a:srgbClr val="000000"/>
                </a:solidFill>
                <a:latin typeface="Arial" panose="020B0604020202090204"/>
                <a:ea typeface="Arial" panose="020B0604020202090204"/>
                <a:cs typeface="Arial" panose="020B0604020202090204"/>
              </a:defRPr>
            </a:pPr>
            <a:r>
              <a:rPr sz="2100" b="0">
                <a:solidFill>
                  <a:srgbClr val="000000"/>
                </a:solidFill>
                <a:latin typeface="Arial" panose="020B0604020202090204"/>
                <a:ea typeface="Arial" panose="020B0604020202090204"/>
                <a:cs typeface="Arial" panose="020B0604020202090204"/>
              </a:rPr>
              <a:t>Saved analysis history</a:t>
            </a:r>
            <a:endParaRPr sz="2100"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5953125" y="1619250"/>
            <a:ext cx="5238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Worker instrumentation</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5953125" y="2190750"/>
            <a:ext cx="5334000" cy="1571625"/>
          </a:xfrm>
          <a:prstGeom prst="rect">
            <a:avLst/>
          </a:prstGeom>
          <a:noFill/>
          <a:ln w="0">
            <a:noFill/>
          </a:ln>
        </p:spPr>
        <p:txBody>
          <a:bodyPr anchor="t"/>
          <a:lstStyle>
            <a:defPPr>
              <a:defRPr sz="1575" b="1">
                <a:solidFill>
                  <a:srgbClr val="000000"/>
                </a:solidFill>
                <a:latin typeface="Courier New" panose="02070409020205090404"/>
                <a:ea typeface="Courier New" panose="02070409020205090404"/>
                <a:cs typeface="Courier New" panose="02070409020205090404"/>
              </a:defRPr>
            </a:defPPr>
            <a:lvl1pPr>
              <a:defRPr sz="1575" b="1">
                <a:solidFill>
                  <a:srgbClr val="000000"/>
                </a:solidFill>
                <a:latin typeface="Courier New" panose="02070409020205090404"/>
                <a:ea typeface="Courier New" panose="02070409020205090404"/>
                <a:cs typeface="Courier New" panose="02070409020205090404"/>
              </a:defRPr>
            </a:lvl1pPr>
            <a:lvl2pPr>
              <a:defRPr sz="1575" b="1">
                <a:solidFill>
                  <a:srgbClr val="000000"/>
                </a:solidFill>
                <a:latin typeface="Courier New" panose="02070409020205090404"/>
                <a:ea typeface="Courier New" panose="02070409020205090404"/>
                <a:cs typeface="Courier New" panose="02070409020205090404"/>
              </a:defRPr>
            </a:lvl2pPr>
            <a:lvl3pPr>
              <a:defRPr sz="1575" b="1">
                <a:solidFill>
                  <a:srgbClr val="000000"/>
                </a:solidFill>
                <a:latin typeface="Courier New" panose="02070409020205090404"/>
                <a:ea typeface="Courier New" panose="02070409020205090404"/>
                <a:cs typeface="Courier New" panose="02070409020205090404"/>
              </a:defRPr>
            </a:lvl3pPr>
            <a:lvl4pPr>
              <a:defRPr sz="1575" b="1">
                <a:solidFill>
                  <a:srgbClr val="000000"/>
                </a:solidFill>
                <a:latin typeface="Courier New" panose="02070409020205090404"/>
                <a:ea typeface="Courier New" panose="02070409020205090404"/>
                <a:cs typeface="Courier New" panose="02070409020205090404"/>
              </a:defRPr>
            </a:lvl4pPr>
            <a:lvl5pPr>
              <a:defRPr sz="1575" b="1">
                <a:solidFill>
                  <a:srgbClr val="000000"/>
                </a:solidFill>
                <a:latin typeface="Courier New" panose="02070409020205090404"/>
                <a:ea typeface="Courier New" panose="02070409020205090404"/>
                <a:cs typeface="Courier New" panose="02070409020205090404"/>
              </a:defRPr>
            </a:lvl5pPr>
            <a:lvl6pPr>
              <a:defRPr sz="1575" b="1">
                <a:solidFill>
                  <a:srgbClr val="000000"/>
                </a:solidFill>
                <a:latin typeface="Courier New" panose="02070409020205090404"/>
                <a:ea typeface="Courier New" panose="02070409020205090404"/>
                <a:cs typeface="Courier New" panose="02070409020205090404"/>
              </a:defRPr>
            </a:lvl6pPr>
            <a:lvl7pPr>
              <a:defRPr sz="1575" b="1">
                <a:solidFill>
                  <a:srgbClr val="000000"/>
                </a:solidFill>
                <a:latin typeface="Courier New" panose="02070409020205090404"/>
                <a:ea typeface="Courier New" panose="02070409020205090404"/>
                <a:cs typeface="Courier New" panose="02070409020205090404"/>
              </a:defRPr>
            </a:lvl7pPr>
            <a:lvl8pPr>
              <a:defRPr sz="1575" b="1">
                <a:solidFill>
                  <a:srgbClr val="000000"/>
                </a:solidFill>
                <a:latin typeface="Courier New" panose="02070409020205090404"/>
                <a:ea typeface="Courier New" panose="02070409020205090404"/>
                <a:cs typeface="Courier New" panose="02070409020205090404"/>
              </a:defRPr>
            </a:lvl8pPr>
            <a:lvl9pPr>
              <a:defRPr sz="1575" b="1">
                <a:solidFill>
                  <a:srgbClr val="000000"/>
                </a:solidFill>
                <a:latin typeface="Courier New" panose="02070409020205090404"/>
                <a:ea typeface="Courier New" panose="02070409020205090404"/>
                <a:cs typeface="Courier New" panose="02070409020205090404"/>
              </a:defRPr>
            </a:lvl9pPr>
          </a:lstStyle>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worker_job_events_total</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worker_attempt_duration_seconds</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worker_jobs</a:t>
            </a:r>
            <a:endParaRPr sz="1575" b="1">
              <a:solidFill>
                <a:srgbClr val="000000"/>
              </a:solidFill>
              <a:latin typeface="Courier New" panose="02070409020205090404"/>
              <a:ea typeface="Courier New" panose="02070409020205090404"/>
              <a:cs typeface="Courier New" panose="02070409020205090404"/>
            </a:endParaRPr>
          </a:p>
          <a:p>
            <a:pPr>
              <a:defRPr sz="1575" b="0">
                <a:solidFill>
                  <a:srgbClr val="000000"/>
                </a:solidFill>
                <a:latin typeface="Arial" panose="020B0604020202090204"/>
                <a:ea typeface="Arial" panose="020B0604020202090204"/>
                <a:cs typeface="Arial" panose="020B0604020202090204"/>
              </a:defRPr>
            </a:pPr>
            <a:r>
              <a:rPr sz="1575" b="1">
                <a:solidFill>
                  <a:srgbClr val="000000"/>
                </a:solidFill>
                <a:latin typeface="Courier New" panose="02070409020205090404"/>
                <a:ea typeface="Courier New" panose="02070409020205090404"/>
                <a:cs typeface="Courier New" panose="02070409020205090404"/>
              </a:rPr>
              <a:t>worker_last_poll_timestamp_seconds</a:t>
            </a:r>
            <a:endParaRPr sz="1575" b="1">
              <a:solidFill>
                <a:srgbClr val="000000"/>
              </a:solidFill>
              <a:latin typeface="Courier New" panose="02070409020205090404"/>
              <a:ea typeface="Courier New" panose="02070409020205090404"/>
              <a:cs typeface="Courier New" panose="02070409020205090404"/>
            </a:endParaRPr>
          </a:p>
        </p:txBody>
      </p:sp>
      <p:sp>
        <p:nvSpPr>
          <p:cNvPr id="9" name="矩形 8"/>
          <p:cNvSpPr>
            <a:spLocks noGrp="1"/>
          </p:cNvSpPr>
          <p:nvPr/>
        </p:nvSpPr>
        <p:spPr>
          <a:xfrm>
            <a:off x="609600" y="447675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Acceptance checks</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09600" y="5000625"/>
            <a:ext cx="10096500" cy="904875"/>
          </a:xfrm>
          <a:prstGeom prst="rect">
            <a:avLst/>
          </a:prstGeom>
          <a:noFill/>
          <a:ln w="0">
            <a:noFill/>
          </a:ln>
        </p:spPr>
        <p:txBody>
          <a:bodyPr anchor="t"/>
          <a:lstStyle>
            <a:defPPr>
              <a:defRPr sz="2025" b="0">
                <a:solidFill>
                  <a:srgbClr val="000000"/>
                </a:solidFill>
                <a:latin typeface="Arial" panose="020B0604020202090204"/>
                <a:ea typeface="Arial" panose="020B0604020202090204"/>
                <a:cs typeface="Arial" panose="020B0604020202090204"/>
              </a:defRPr>
            </a:defPPr>
            <a:lvl1pPr>
              <a:defRPr sz="2025" b="0">
                <a:solidFill>
                  <a:srgbClr val="000000"/>
                </a:solidFill>
                <a:latin typeface="Arial" panose="020B0604020202090204"/>
                <a:ea typeface="Arial" panose="020B0604020202090204"/>
                <a:cs typeface="Arial" panose="020B0604020202090204"/>
              </a:defRPr>
            </a:lvl1pPr>
            <a:lvl2pPr>
              <a:defRPr sz="2025" b="0">
                <a:solidFill>
                  <a:srgbClr val="000000"/>
                </a:solidFill>
                <a:latin typeface="Arial" panose="020B0604020202090204"/>
                <a:ea typeface="Arial" panose="020B0604020202090204"/>
                <a:cs typeface="Arial" panose="020B0604020202090204"/>
              </a:defRPr>
            </a:lvl2pPr>
            <a:lvl3pPr>
              <a:defRPr sz="2025" b="0">
                <a:solidFill>
                  <a:srgbClr val="000000"/>
                </a:solidFill>
                <a:latin typeface="Arial" panose="020B0604020202090204"/>
                <a:ea typeface="Arial" panose="020B0604020202090204"/>
                <a:cs typeface="Arial" panose="020B0604020202090204"/>
              </a:defRPr>
            </a:lvl3pPr>
            <a:lvl4pPr>
              <a:defRPr sz="2025" b="0">
                <a:solidFill>
                  <a:srgbClr val="000000"/>
                </a:solidFill>
                <a:latin typeface="Arial" panose="020B0604020202090204"/>
                <a:ea typeface="Arial" panose="020B0604020202090204"/>
                <a:cs typeface="Arial" panose="020B0604020202090204"/>
              </a:defRPr>
            </a:lvl4pPr>
            <a:lvl5pPr>
              <a:defRPr sz="2025" b="0">
                <a:solidFill>
                  <a:srgbClr val="000000"/>
                </a:solidFill>
                <a:latin typeface="Arial" panose="020B0604020202090204"/>
                <a:ea typeface="Arial" panose="020B0604020202090204"/>
                <a:cs typeface="Arial" panose="020B0604020202090204"/>
              </a:defRPr>
            </a:lvl5pPr>
            <a:lvl6pPr>
              <a:defRPr sz="2025" b="0">
                <a:solidFill>
                  <a:srgbClr val="000000"/>
                </a:solidFill>
                <a:latin typeface="Arial" panose="020B0604020202090204"/>
                <a:ea typeface="Arial" panose="020B0604020202090204"/>
                <a:cs typeface="Arial" panose="020B0604020202090204"/>
              </a:defRPr>
            </a:lvl6pPr>
            <a:lvl7pPr>
              <a:defRPr sz="2025" b="0">
                <a:solidFill>
                  <a:srgbClr val="000000"/>
                </a:solidFill>
                <a:latin typeface="Arial" panose="020B0604020202090204"/>
                <a:ea typeface="Arial" panose="020B0604020202090204"/>
                <a:cs typeface="Arial" panose="020B0604020202090204"/>
              </a:defRPr>
            </a:lvl7pPr>
            <a:lvl8pPr>
              <a:defRPr sz="2025" b="0">
                <a:solidFill>
                  <a:srgbClr val="000000"/>
                </a:solidFill>
                <a:latin typeface="Arial" panose="020B0604020202090204"/>
                <a:ea typeface="Arial" panose="020B0604020202090204"/>
                <a:cs typeface="Arial" panose="020B0604020202090204"/>
              </a:defRPr>
            </a:lvl8pPr>
            <a:lvl9pPr>
              <a:defRPr sz="2025" b="0">
                <a:solidFill>
                  <a:srgbClr val="000000"/>
                </a:solidFill>
                <a:latin typeface="Arial" panose="020B0604020202090204"/>
                <a:ea typeface="Arial" panose="020B0604020202090204"/>
                <a:cs typeface="Arial" panose="020B0604020202090204"/>
              </a:defRPr>
            </a:lvl9pPr>
          </a:lstStyle>
          <a:p>
            <a:pPr>
              <a:defRPr sz="2025" b="0">
                <a:solidFill>
                  <a:srgbClr val="000000"/>
                </a:solidFill>
                <a:latin typeface="Arial" panose="020B0604020202090204"/>
                <a:ea typeface="Arial" panose="020B0604020202090204"/>
                <a:cs typeface="Arial" panose="020B0604020202090204"/>
              </a:defRPr>
            </a:pPr>
            <a:r>
              <a:rPr sz="2025" b="0">
                <a:solidFill>
                  <a:srgbClr val="000000"/>
                </a:solidFill>
                <a:latin typeface="Arial" panose="020B0604020202090204"/>
                <a:ea typeface="Arial" panose="020B0604020202090204"/>
                <a:cs typeface="Arial" panose="020B0604020202090204"/>
              </a:rPr>
              <a:t>The test reads /metrics and checks worker_job_events_total. It also verifies saved job states and analysis-run counts.</a:t>
            </a:r>
            <a:endParaRPr sz="202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Recorded verification results</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11</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71625"/>
            <a:ext cx="4000500" cy="762000"/>
          </a:xfrm>
          <a:prstGeom prst="rect">
            <a:avLst/>
          </a:prstGeom>
          <a:noFill/>
          <a:ln w="0">
            <a:noFill/>
          </a:ln>
        </p:spPr>
        <p:txBody>
          <a:bodyPr anchor="t"/>
          <a:lstStyle>
            <a:defPPr>
              <a:defRPr sz="5100" b="1">
                <a:solidFill>
                  <a:srgbClr val="000000"/>
                </a:solidFill>
                <a:latin typeface="Arial" panose="020B0604020202090204"/>
                <a:ea typeface="Arial" panose="020B0604020202090204"/>
                <a:cs typeface="Arial" panose="020B0604020202090204"/>
              </a:defRPr>
            </a:defPPr>
            <a:lvl1pPr>
              <a:defRPr sz="5100" b="1">
                <a:solidFill>
                  <a:srgbClr val="000000"/>
                </a:solidFill>
                <a:latin typeface="Arial" panose="020B0604020202090204"/>
                <a:ea typeface="Arial" panose="020B0604020202090204"/>
                <a:cs typeface="Arial" panose="020B0604020202090204"/>
              </a:defRPr>
            </a:lvl1pPr>
            <a:lvl2pPr>
              <a:defRPr sz="5100" b="1">
                <a:solidFill>
                  <a:srgbClr val="000000"/>
                </a:solidFill>
                <a:latin typeface="Arial" panose="020B0604020202090204"/>
                <a:ea typeface="Arial" panose="020B0604020202090204"/>
                <a:cs typeface="Arial" panose="020B0604020202090204"/>
              </a:defRPr>
            </a:lvl2pPr>
            <a:lvl3pPr>
              <a:defRPr sz="5100" b="1">
                <a:solidFill>
                  <a:srgbClr val="000000"/>
                </a:solidFill>
                <a:latin typeface="Arial" panose="020B0604020202090204"/>
                <a:ea typeface="Arial" panose="020B0604020202090204"/>
                <a:cs typeface="Arial" panose="020B0604020202090204"/>
              </a:defRPr>
            </a:lvl3pPr>
            <a:lvl4pPr>
              <a:defRPr sz="5100" b="1">
                <a:solidFill>
                  <a:srgbClr val="000000"/>
                </a:solidFill>
                <a:latin typeface="Arial" panose="020B0604020202090204"/>
                <a:ea typeface="Arial" panose="020B0604020202090204"/>
                <a:cs typeface="Arial" panose="020B0604020202090204"/>
              </a:defRPr>
            </a:lvl4pPr>
            <a:lvl5pPr>
              <a:defRPr sz="5100" b="1">
                <a:solidFill>
                  <a:srgbClr val="000000"/>
                </a:solidFill>
                <a:latin typeface="Arial" panose="020B0604020202090204"/>
                <a:ea typeface="Arial" panose="020B0604020202090204"/>
                <a:cs typeface="Arial" panose="020B0604020202090204"/>
              </a:defRPr>
            </a:lvl5pPr>
            <a:lvl6pPr>
              <a:defRPr sz="5100" b="1">
                <a:solidFill>
                  <a:srgbClr val="000000"/>
                </a:solidFill>
                <a:latin typeface="Arial" panose="020B0604020202090204"/>
                <a:ea typeface="Arial" panose="020B0604020202090204"/>
                <a:cs typeface="Arial" panose="020B0604020202090204"/>
              </a:defRPr>
            </a:lvl6pPr>
            <a:lvl7pPr>
              <a:defRPr sz="5100" b="1">
                <a:solidFill>
                  <a:srgbClr val="000000"/>
                </a:solidFill>
                <a:latin typeface="Arial" panose="020B0604020202090204"/>
                <a:ea typeface="Arial" panose="020B0604020202090204"/>
                <a:cs typeface="Arial" panose="020B0604020202090204"/>
              </a:defRPr>
            </a:lvl7pPr>
            <a:lvl8pPr>
              <a:defRPr sz="5100" b="1">
                <a:solidFill>
                  <a:srgbClr val="000000"/>
                </a:solidFill>
                <a:latin typeface="Arial" panose="020B0604020202090204"/>
                <a:ea typeface="Arial" panose="020B0604020202090204"/>
                <a:cs typeface="Arial" panose="020B0604020202090204"/>
              </a:defRPr>
            </a:lvl8pPr>
            <a:lvl9pPr>
              <a:defRPr sz="5100" b="1">
                <a:solidFill>
                  <a:srgbClr val="000000"/>
                </a:solidFill>
                <a:latin typeface="Arial" panose="020B0604020202090204"/>
                <a:ea typeface="Arial" panose="020B0604020202090204"/>
                <a:cs typeface="Arial" panose="020B0604020202090204"/>
              </a:defRPr>
            </a:lvl9pPr>
          </a:lstStyle>
          <a:p>
            <a:pPr>
              <a:defRPr sz="5100" b="1">
                <a:solidFill>
                  <a:srgbClr val="000000"/>
                </a:solidFill>
                <a:latin typeface="Arial" panose="020B0604020202090204"/>
                <a:ea typeface="Arial" panose="020B0604020202090204"/>
                <a:cs typeface="Arial" panose="020B0604020202090204"/>
              </a:defRPr>
            </a:pPr>
            <a:r>
              <a:rPr sz="5100" b="1">
                <a:solidFill>
                  <a:srgbClr val="000000"/>
                </a:solidFill>
                <a:latin typeface="Arial" panose="020B0604020202090204"/>
                <a:ea typeface="Arial" panose="020B0604020202090204"/>
                <a:cs typeface="Arial" panose="020B0604020202090204"/>
              </a:rPr>
              <a:t>94</a:t>
            </a:r>
            <a:endParaRPr sz="5100"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428875"/>
            <a:ext cx="4857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Unit and integration tests</a:t>
            </a:r>
            <a:endParaRPr sz="2025" b="1">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609600" y="2952750"/>
            <a:ext cx="4762500" cy="809625"/>
          </a:xfrm>
          <a:prstGeom prst="rect">
            <a:avLst/>
          </a:prstGeom>
          <a:noFill/>
          <a:ln w="0">
            <a:noFill/>
          </a:ln>
        </p:spPr>
        <p:txBody>
          <a:bodyPr anchor="t"/>
          <a:lstStyle>
            <a:defPPr>
              <a:defRPr sz="1875" b="0">
                <a:solidFill>
                  <a:srgbClr val="000000"/>
                </a:solidFill>
                <a:latin typeface="Arial" panose="020B0604020202090204"/>
                <a:ea typeface="Arial" panose="020B0604020202090204"/>
                <a:cs typeface="Arial" panose="020B0604020202090204"/>
              </a:defRPr>
            </a:defPPr>
            <a:lvl1pPr>
              <a:defRPr sz="1875" b="0">
                <a:solidFill>
                  <a:srgbClr val="000000"/>
                </a:solidFill>
                <a:latin typeface="Arial" panose="020B0604020202090204"/>
                <a:ea typeface="Arial" panose="020B0604020202090204"/>
                <a:cs typeface="Arial" panose="020B0604020202090204"/>
              </a:defRPr>
            </a:lvl1pPr>
            <a:lvl2pPr>
              <a:defRPr sz="1875" b="0">
                <a:solidFill>
                  <a:srgbClr val="000000"/>
                </a:solidFill>
                <a:latin typeface="Arial" panose="020B0604020202090204"/>
                <a:ea typeface="Arial" panose="020B0604020202090204"/>
                <a:cs typeface="Arial" panose="020B0604020202090204"/>
              </a:defRPr>
            </a:lvl2pPr>
            <a:lvl3pPr>
              <a:defRPr sz="1875" b="0">
                <a:solidFill>
                  <a:srgbClr val="000000"/>
                </a:solidFill>
                <a:latin typeface="Arial" panose="020B0604020202090204"/>
                <a:ea typeface="Arial" panose="020B0604020202090204"/>
                <a:cs typeface="Arial" panose="020B0604020202090204"/>
              </a:defRPr>
            </a:lvl3pPr>
            <a:lvl4pPr>
              <a:defRPr sz="1875" b="0">
                <a:solidFill>
                  <a:srgbClr val="000000"/>
                </a:solidFill>
                <a:latin typeface="Arial" panose="020B0604020202090204"/>
                <a:ea typeface="Arial" panose="020B0604020202090204"/>
                <a:cs typeface="Arial" panose="020B0604020202090204"/>
              </a:defRPr>
            </a:lvl4pPr>
            <a:lvl5pPr>
              <a:defRPr sz="1875" b="0">
                <a:solidFill>
                  <a:srgbClr val="000000"/>
                </a:solidFill>
                <a:latin typeface="Arial" panose="020B0604020202090204"/>
                <a:ea typeface="Arial" panose="020B0604020202090204"/>
                <a:cs typeface="Arial" panose="020B0604020202090204"/>
              </a:defRPr>
            </a:lvl5pPr>
            <a:lvl6pPr>
              <a:defRPr sz="1875" b="0">
                <a:solidFill>
                  <a:srgbClr val="000000"/>
                </a:solidFill>
                <a:latin typeface="Arial" panose="020B0604020202090204"/>
                <a:ea typeface="Arial" panose="020B0604020202090204"/>
                <a:cs typeface="Arial" panose="020B0604020202090204"/>
              </a:defRPr>
            </a:lvl6pPr>
            <a:lvl7pPr>
              <a:defRPr sz="1875" b="0">
                <a:solidFill>
                  <a:srgbClr val="000000"/>
                </a:solidFill>
                <a:latin typeface="Arial" panose="020B0604020202090204"/>
                <a:ea typeface="Arial" panose="020B0604020202090204"/>
                <a:cs typeface="Arial" panose="020B0604020202090204"/>
              </a:defRPr>
            </a:lvl7pPr>
            <a:lvl8pPr>
              <a:defRPr sz="1875" b="0">
                <a:solidFill>
                  <a:srgbClr val="000000"/>
                </a:solidFill>
                <a:latin typeface="Arial" panose="020B0604020202090204"/>
                <a:ea typeface="Arial" panose="020B0604020202090204"/>
                <a:cs typeface="Arial" panose="020B0604020202090204"/>
              </a:defRPr>
            </a:lvl8pPr>
            <a:lvl9pPr>
              <a:defRPr sz="1875" b="0">
                <a:solidFill>
                  <a:srgbClr val="000000"/>
                </a:solidFill>
                <a:latin typeface="Arial" panose="020B0604020202090204"/>
                <a:ea typeface="Arial" panose="020B0604020202090204"/>
                <a:cs typeface="Arial" panose="020B0604020202090204"/>
              </a:defRPr>
            </a:lvl9pPr>
          </a:lstStyle>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Earlier full run, including six</a:t>
            </a:r>
            <a:endParaRPr sz="1875" b="0">
              <a:solidFill>
                <a:srgbClr val="000000"/>
              </a:solidFill>
              <a:latin typeface="Arial" panose="020B0604020202090204"/>
              <a:ea typeface="Arial" panose="020B0604020202090204"/>
              <a:cs typeface="Arial" panose="020B0604020202090204"/>
            </a:endParaRPr>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real PostgreSQL cases</a:t>
            </a:r>
            <a:endParaRPr sz="1875" b="0">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191250" y="1571625"/>
            <a:ext cx="3810000" cy="762000"/>
          </a:xfrm>
          <a:prstGeom prst="rect">
            <a:avLst/>
          </a:prstGeom>
          <a:noFill/>
          <a:ln w="0">
            <a:noFill/>
          </a:ln>
        </p:spPr>
        <p:txBody>
          <a:bodyPr anchor="t"/>
          <a:lstStyle>
            <a:defPPr>
              <a:defRPr sz="5100" b="1">
                <a:solidFill>
                  <a:srgbClr val="000000"/>
                </a:solidFill>
                <a:latin typeface="Arial" panose="020B0604020202090204"/>
                <a:ea typeface="Arial" panose="020B0604020202090204"/>
                <a:cs typeface="Arial" panose="020B0604020202090204"/>
              </a:defRPr>
            </a:defPPr>
            <a:lvl1pPr>
              <a:defRPr sz="5100" b="1">
                <a:solidFill>
                  <a:srgbClr val="000000"/>
                </a:solidFill>
                <a:latin typeface="Arial" panose="020B0604020202090204"/>
                <a:ea typeface="Arial" panose="020B0604020202090204"/>
                <a:cs typeface="Arial" panose="020B0604020202090204"/>
              </a:defRPr>
            </a:lvl1pPr>
            <a:lvl2pPr>
              <a:defRPr sz="5100" b="1">
                <a:solidFill>
                  <a:srgbClr val="000000"/>
                </a:solidFill>
                <a:latin typeface="Arial" panose="020B0604020202090204"/>
                <a:ea typeface="Arial" panose="020B0604020202090204"/>
                <a:cs typeface="Arial" panose="020B0604020202090204"/>
              </a:defRPr>
            </a:lvl2pPr>
            <a:lvl3pPr>
              <a:defRPr sz="5100" b="1">
                <a:solidFill>
                  <a:srgbClr val="000000"/>
                </a:solidFill>
                <a:latin typeface="Arial" panose="020B0604020202090204"/>
                <a:ea typeface="Arial" panose="020B0604020202090204"/>
                <a:cs typeface="Arial" panose="020B0604020202090204"/>
              </a:defRPr>
            </a:lvl3pPr>
            <a:lvl4pPr>
              <a:defRPr sz="5100" b="1">
                <a:solidFill>
                  <a:srgbClr val="000000"/>
                </a:solidFill>
                <a:latin typeface="Arial" panose="020B0604020202090204"/>
                <a:ea typeface="Arial" panose="020B0604020202090204"/>
                <a:cs typeface="Arial" panose="020B0604020202090204"/>
              </a:defRPr>
            </a:lvl4pPr>
            <a:lvl5pPr>
              <a:defRPr sz="5100" b="1">
                <a:solidFill>
                  <a:srgbClr val="000000"/>
                </a:solidFill>
                <a:latin typeface="Arial" panose="020B0604020202090204"/>
                <a:ea typeface="Arial" panose="020B0604020202090204"/>
                <a:cs typeface="Arial" panose="020B0604020202090204"/>
              </a:defRPr>
            </a:lvl5pPr>
            <a:lvl6pPr>
              <a:defRPr sz="5100" b="1">
                <a:solidFill>
                  <a:srgbClr val="000000"/>
                </a:solidFill>
                <a:latin typeface="Arial" panose="020B0604020202090204"/>
                <a:ea typeface="Arial" panose="020B0604020202090204"/>
                <a:cs typeface="Arial" panose="020B0604020202090204"/>
              </a:defRPr>
            </a:lvl6pPr>
            <a:lvl7pPr>
              <a:defRPr sz="5100" b="1">
                <a:solidFill>
                  <a:srgbClr val="000000"/>
                </a:solidFill>
                <a:latin typeface="Arial" panose="020B0604020202090204"/>
                <a:ea typeface="Arial" panose="020B0604020202090204"/>
                <a:cs typeface="Arial" panose="020B0604020202090204"/>
              </a:defRPr>
            </a:lvl7pPr>
            <a:lvl8pPr>
              <a:defRPr sz="5100" b="1">
                <a:solidFill>
                  <a:srgbClr val="000000"/>
                </a:solidFill>
                <a:latin typeface="Arial" panose="020B0604020202090204"/>
                <a:ea typeface="Arial" panose="020B0604020202090204"/>
                <a:cs typeface="Arial" panose="020B0604020202090204"/>
              </a:defRPr>
            </a:lvl8pPr>
            <a:lvl9pPr>
              <a:defRPr sz="5100" b="1">
                <a:solidFill>
                  <a:srgbClr val="000000"/>
                </a:solidFill>
                <a:latin typeface="Arial" panose="020B0604020202090204"/>
                <a:ea typeface="Arial" panose="020B0604020202090204"/>
                <a:cs typeface="Arial" panose="020B0604020202090204"/>
              </a:defRPr>
            </a:lvl9pPr>
          </a:lstStyle>
          <a:p>
            <a:pPr>
              <a:defRPr sz="5100" b="1">
                <a:solidFill>
                  <a:srgbClr val="000000"/>
                </a:solidFill>
                <a:latin typeface="Arial" panose="020B0604020202090204"/>
                <a:ea typeface="Arial" panose="020B0604020202090204"/>
                <a:cs typeface="Arial" panose="020B0604020202090204"/>
              </a:defRPr>
            </a:pPr>
            <a:r>
              <a:rPr sz="5100" b="1">
                <a:solidFill>
                  <a:srgbClr val="000000"/>
                </a:solidFill>
                <a:latin typeface="Arial" panose="020B0604020202090204"/>
                <a:ea typeface="Arial" panose="020B0604020202090204"/>
                <a:cs typeface="Arial" panose="020B0604020202090204"/>
              </a:rPr>
              <a:t>5</a:t>
            </a:r>
            <a:endParaRPr sz="5100" b="1">
              <a:solidFill>
                <a:srgbClr val="000000"/>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191250" y="2428875"/>
            <a:ext cx="4857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Real HTTP smoke tests</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191250" y="2952750"/>
            <a:ext cx="4762500" cy="809625"/>
          </a:xfrm>
          <a:prstGeom prst="rect">
            <a:avLst/>
          </a:prstGeom>
          <a:noFill/>
          <a:ln w="0">
            <a:noFill/>
          </a:ln>
        </p:spPr>
        <p:txBody>
          <a:bodyPr anchor="t"/>
          <a:lstStyle>
            <a:defPPr>
              <a:defRPr sz="1875" b="0">
                <a:solidFill>
                  <a:srgbClr val="000000"/>
                </a:solidFill>
                <a:latin typeface="Arial" panose="020B0604020202090204"/>
                <a:ea typeface="Arial" panose="020B0604020202090204"/>
                <a:cs typeface="Arial" panose="020B0604020202090204"/>
              </a:defRPr>
            </a:defPPr>
            <a:lvl1pPr>
              <a:defRPr sz="1875" b="0">
                <a:solidFill>
                  <a:srgbClr val="000000"/>
                </a:solidFill>
                <a:latin typeface="Arial" panose="020B0604020202090204"/>
                <a:ea typeface="Arial" panose="020B0604020202090204"/>
                <a:cs typeface="Arial" panose="020B0604020202090204"/>
              </a:defRPr>
            </a:lvl1pPr>
            <a:lvl2pPr>
              <a:defRPr sz="1875" b="0">
                <a:solidFill>
                  <a:srgbClr val="000000"/>
                </a:solidFill>
                <a:latin typeface="Arial" panose="020B0604020202090204"/>
                <a:ea typeface="Arial" panose="020B0604020202090204"/>
                <a:cs typeface="Arial" panose="020B0604020202090204"/>
              </a:defRPr>
            </a:lvl2pPr>
            <a:lvl3pPr>
              <a:defRPr sz="1875" b="0">
                <a:solidFill>
                  <a:srgbClr val="000000"/>
                </a:solidFill>
                <a:latin typeface="Arial" panose="020B0604020202090204"/>
                <a:ea typeface="Arial" panose="020B0604020202090204"/>
                <a:cs typeface="Arial" panose="020B0604020202090204"/>
              </a:defRPr>
            </a:lvl3pPr>
            <a:lvl4pPr>
              <a:defRPr sz="1875" b="0">
                <a:solidFill>
                  <a:srgbClr val="000000"/>
                </a:solidFill>
                <a:latin typeface="Arial" panose="020B0604020202090204"/>
                <a:ea typeface="Arial" panose="020B0604020202090204"/>
                <a:cs typeface="Arial" panose="020B0604020202090204"/>
              </a:defRPr>
            </a:lvl4pPr>
            <a:lvl5pPr>
              <a:defRPr sz="1875" b="0">
                <a:solidFill>
                  <a:srgbClr val="000000"/>
                </a:solidFill>
                <a:latin typeface="Arial" panose="020B0604020202090204"/>
                <a:ea typeface="Arial" panose="020B0604020202090204"/>
                <a:cs typeface="Arial" panose="020B0604020202090204"/>
              </a:defRPr>
            </a:lvl5pPr>
            <a:lvl6pPr>
              <a:defRPr sz="1875" b="0">
                <a:solidFill>
                  <a:srgbClr val="000000"/>
                </a:solidFill>
                <a:latin typeface="Arial" panose="020B0604020202090204"/>
                <a:ea typeface="Arial" panose="020B0604020202090204"/>
                <a:cs typeface="Arial" panose="020B0604020202090204"/>
              </a:defRPr>
            </a:lvl6pPr>
            <a:lvl7pPr>
              <a:defRPr sz="1875" b="0">
                <a:solidFill>
                  <a:srgbClr val="000000"/>
                </a:solidFill>
                <a:latin typeface="Arial" panose="020B0604020202090204"/>
                <a:ea typeface="Arial" panose="020B0604020202090204"/>
                <a:cs typeface="Arial" panose="020B0604020202090204"/>
              </a:defRPr>
            </a:lvl7pPr>
            <a:lvl8pPr>
              <a:defRPr sz="1875" b="0">
                <a:solidFill>
                  <a:srgbClr val="000000"/>
                </a:solidFill>
                <a:latin typeface="Arial" panose="020B0604020202090204"/>
                <a:ea typeface="Arial" panose="020B0604020202090204"/>
                <a:cs typeface="Arial" panose="020B0604020202090204"/>
              </a:defRPr>
            </a:lvl8pPr>
            <a:lvl9pPr>
              <a:defRPr sz="1875" b="0">
                <a:solidFill>
                  <a:srgbClr val="000000"/>
                </a:solidFill>
                <a:latin typeface="Arial" panose="020B0604020202090204"/>
                <a:ea typeface="Arial" panose="020B0604020202090204"/>
                <a:cs typeface="Arial" panose="020B0604020202090204"/>
              </a:defRPr>
            </a:lvl9pPr>
          </a:lstStyle>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API, rule AI, Worker and fault proxy</a:t>
            </a:r>
            <a:endParaRPr sz="1875" b="0">
              <a:solidFill>
                <a:srgbClr val="000000"/>
              </a:solidFill>
              <a:latin typeface="Arial" panose="020B0604020202090204"/>
              <a:ea typeface="Arial" panose="020B0604020202090204"/>
              <a:cs typeface="Arial" panose="020B0604020202090204"/>
            </a:endParaRPr>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Graceful shutdown also passed</a:t>
            </a:r>
            <a:endParaRPr sz="1875" b="0">
              <a:solidFill>
                <a:srgbClr val="000000"/>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609600" y="4095750"/>
            <a:ext cx="4000500" cy="762000"/>
          </a:xfrm>
          <a:prstGeom prst="rect">
            <a:avLst/>
          </a:prstGeom>
          <a:noFill/>
          <a:ln w="0">
            <a:noFill/>
          </a:ln>
        </p:spPr>
        <p:txBody>
          <a:bodyPr anchor="t"/>
          <a:lstStyle>
            <a:defPPr>
              <a:defRPr sz="5100" b="1">
                <a:solidFill>
                  <a:srgbClr val="000000"/>
                </a:solidFill>
                <a:latin typeface="Arial" panose="020B0604020202090204"/>
                <a:ea typeface="Arial" panose="020B0604020202090204"/>
                <a:cs typeface="Arial" panose="020B0604020202090204"/>
              </a:defRPr>
            </a:defPPr>
            <a:lvl1pPr>
              <a:defRPr sz="5100" b="1">
                <a:solidFill>
                  <a:srgbClr val="000000"/>
                </a:solidFill>
                <a:latin typeface="Arial" panose="020B0604020202090204"/>
                <a:ea typeface="Arial" panose="020B0604020202090204"/>
                <a:cs typeface="Arial" panose="020B0604020202090204"/>
              </a:defRPr>
            </a:lvl1pPr>
            <a:lvl2pPr>
              <a:defRPr sz="5100" b="1">
                <a:solidFill>
                  <a:srgbClr val="000000"/>
                </a:solidFill>
                <a:latin typeface="Arial" panose="020B0604020202090204"/>
                <a:ea typeface="Arial" panose="020B0604020202090204"/>
                <a:cs typeface="Arial" panose="020B0604020202090204"/>
              </a:defRPr>
            </a:lvl2pPr>
            <a:lvl3pPr>
              <a:defRPr sz="5100" b="1">
                <a:solidFill>
                  <a:srgbClr val="000000"/>
                </a:solidFill>
                <a:latin typeface="Arial" panose="020B0604020202090204"/>
                <a:ea typeface="Arial" panose="020B0604020202090204"/>
                <a:cs typeface="Arial" panose="020B0604020202090204"/>
              </a:defRPr>
            </a:lvl3pPr>
            <a:lvl4pPr>
              <a:defRPr sz="5100" b="1">
                <a:solidFill>
                  <a:srgbClr val="000000"/>
                </a:solidFill>
                <a:latin typeface="Arial" panose="020B0604020202090204"/>
                <a:ea typeface="Arial" panose="020B0604020202090204"/>
                <a:cs typeface="Arial" panose="020B0604020202090204"/>
              </a:defRPr>
            </a:lvl4pPr>
            <a:lvl5pPr>
              <a:defRPr sz="5100" b="1">
                <a:solidFill>
                  <a:srgbClr val="000000"/>
                </a:solidFill>
                <a:latin typeface="Arial" panose="020B0604020202090204"/>
                <a:ea typeface="Arial" panose="020B0604020202090204"/>
                <a:cs typeface="Arial" panose="020B0604020202090204"/>
              </a:defRPr>
            </a:lvl5pPr>
            <a:lvl6pPr>
              <a:defRPr sz="5100" b="1">
                <a:solidFill>
                  <a:srgbClr val="000000"/>
                </a:solidFill>
                <a:latin typeface="Arial" panose="020B0604020202090204"/>
                <a:ea typeface="Arial" panose="020B0604020202090204"/>
                <a:cs typeface="Arial" panose="020B0604020202090204"/>
              </a:defRPr>
            </a:lvl6pPr>
            <a:lvl7pPr>
              <a:defRPr sz="5100" b="1">
                <a:solidFill>
                  <a:srgbClr val="000000"/>
                </a:solidFill>
                <a:latin typeface="Arial" panose="020B0604020202090204"/>
                <a:ea typeface="Arial" panose="020B0604020202090204"/>
                <a:cs typeface="Arial" panose="020B0604020202090204"/>
              </a:defRPr>
            </a:lvl7pPr>
            <a:lvl8pPr>
              <a:defRPr sz="5100" b="1">
                <a:solidFill>
                  <a:srgbClr val="000000"/>
                </a:solidFill>
                <a:latin typeface="Arial" panose="020B0604020202090204"/>
                <a:ea typeface="Arial" panose="020B0604020202090204"/>
                <a:cs typeface="Arial" panose="020B0604020202090204"/>
              </a:defRPr>
            </a:lvl8pPr>
            <a:lvl9pPr>
              <a:defRPr sz="5100" b="1">
                <a:solidFill>
                  <a:srgbClr val="000000"/>
                </a:solidFill>
                <a:latin typeface="Arial" panose="020B0604020202090204"/>
                <a:ea typeface="Arial" panose="020B0604020202090204"/>
                <a:cs typeface="Arial" panose="020B0604020202090204"/>
              </a:defRPr>
            </a:lvl9pPr>
          </a:lstStyle>
          <a:p>
            <a:pPr>
              <a:defRPr sz="5100" b="1">
                <a:solidFill>
                  <a:srgbClr val="000000"/>
                </a:solidFill>
                <a:latin typeface="Arial" panose="020B0604020202090204"/>
                <a:ea typeface="Arial" panose="020B0604020202090204"/>
                <a:cs typeface="Arial" panose="020B0604020202090204"/>
              </a:defRPr>
            </a:pPr>
            <a:r>
              <a:rPr sz="5100" b="1">
                <a:solidFill>
                  <a:srgbClr val="000000"/>
                </a:solidFill>
                <a:latin typeface="Arial" panose="020B0604020202090204"/>
                <a:ea typeface="Arial" panose="020B0604020202090204"/>
                <a:cs typeface="Arial" panose="020B0604020202090204"/>
              </a:rPr>
              <a:t>10</a:t>
            </a:r>
            <a:endParaRPr sz="5100" b="1">
              <a:solidFill>
                <a:srgbClr val="000000"/>
              </a:solidFill>
              <a:latin typeface="Arial" panose="020B0604020202090204"/>
              <a:ea typeface="Arial" panose="020B0604020202090204"/>
              <a:cs typeface="Arial" panose="020B0604020202090204"/>
            </a:endParaRPr>
          </a:p>
        </p:txBody>
      </p:sp>
      <p:sp>
        <p:nvSpPr>
          <p:cNvPr id="12" name="矩形 11"/>
          <p:cNvSpPr>
            <a:spLocks noGrp="1"/>
          </p:cNvSpPr>
          <p:nvPr/>
        </p:nvSpPr>
        <p:spPr>
          <a:xfrm>
            <a:off x="609600" y="4953000"/>
            <a:ext cx="4857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Bilingual demo cases</a:t>
            </a:r>
            <a:endParaRPr sz="2025" b="1">
              <a:solidFill>
                <a:srgbClr val="000000"/>
              </a:solidFill>
              <a:latin typeface="Arial" panose="020B0604020202090204"/>
              <a:ea typeface="Arial" panose="020B0604020202090204"/>
              <a:cs typeface="Arial" panose="020B0604020202090204"/>
            </a:endParaRPr>
          </a:p>
        </p:txBody>
      </p:sp>
      <p:sp>
        <p:nvSpPr>
          <p:cNvPr id="13" name="矩形 12"/>
          <p:cNvSpPr>
            <a:spLocks noGrp="1"/>
          </p:cNvSpPr>
          <p:nvPr/>
        </p:nvSpPr>
        <p:spPr>
          <a:xfrm>
            <a:off x="609600" y="5429250"/>
            <a:ext cx="4857750" cy="714375"/>
          </a:xfrm>
          <a:prstGeom prst="rect">
            <a:avLst/>
          </a:prstGeom>
          <a:noFill/>
          <a:ln w="0">
            <a:noFill/>
          </a:ln>
        </p:spPr>
        <p:txBody>
          <a:bodyPr anchor="t"/>
          <a:lstStyle>
            <a:defPPr>
              <a:defRPr sz="1800" b="0">
                <a:solidFill>
                  <a:srgbClr val="000000"/>
                </a:solidFill>
                <a:latin typeface="Arial" panose="020B0604020202090204"/>
                <a:ea typeface="Arial" panose="020B0604020202090204"/>
                <a:cs typeface="Arial" panose="020B0604020202090204"/>
              </a:defRPr>
            </a:defPPr>
            <a:lvl1pPr>
              <a:defRPr sz="1800" b="0">
                <a:solidFill>
                  <a:srgbClr val="000000"/>
                </a:solidFill>
                <a:latin typeface="Arial" panose="020B0604020202090204"/>
                <a:ea typeface="Arial" panose="020B0604020202090204"/>
                <a:cs typeface="Arial" panose="020B0604020202090204"/>
              </a:defRPr>
            </a:lvl1pPr>
            <a:lvl2pPr>
              <a:defRPr sz="1800" b="0">
                <a:solidFill>
                  <a:srgbClr val="000000"/>
                </a:solidFill>
                <a:latin typeface="Arial" panose="020B0604020202090204"/>
                <a:ea typeface="Arial" panose="020B0604020202090204"/>
                <a:cs typeface="Arial" panose="020B0604020202090204"/>
              </a:defRPr>
            </a:lvl2pPr>
            <a:lvl3pPr>
              <a:defRPr sz="1800" b="0">
                <a:solidFill>
                  <a:srgbClr val="000000"/>
                </a:solidFill>
                <a:latin typeface="Arial" panose="020B0604020202090204"/>
                <a:ea typeface="Arial" panose="020B0604020202090204"/>
                <a:cs typeface="Arial" panose="020B0604020202090204"/>
              </a:defRPr>
            </a:lvl3pPr>
            <a:lvl4pPr>
              <a:defRPr sz="1800" b="0">
                <a:solidFill>
                  <a:srgbClr val="000000"/>
                </a:solidFill>
                <a:latin typeface="Arial" panose="020B0604020202090204"/>
                <a:ea typeface="Arial" panose="020B0604020202090204"/>
                <a:cs typeface="Arial" panose="020B0604020202090204"/>
              </a:defRPr>
            </a:lvl4pPr>
            <a:lvl5pPr>
              <a:defRPr sz="1800" b="0">
                <a:solidFill>
                  <a:srgbClr val="000000"/>
                </a:solidFill>
                <a:latin typeface="Arial" panose="020B0604020202090204"/>
                <a:ea typeface="Arial" panose="020B0604020202090204"/>
                <a:cs typeface="Arial" panose="020B0604020202090204"/>
              </a:defRPr>
            </a:lvl5pPr>
            <a:lvl6pPr>
              <a:defRPr sz="1800" b="0">
                <a:solidFill>
                  <a:srgbClr val="000000"/>
                </a:solidFill>
                <a:latin typeface="Arial" panose="020B0604020202090204"/>
                <a:ea typeface="Arial" panose="020B0604020202090204"/>
                <a:cs typeface="Arial" panose="020B0604020202090204"/>
              </a:defRPr>
            </a:lvl6pPr>
            <a:lvl7pPr>
              <a:defRPr sz="1800" b="0">
                <a:solidFill>
                  <a:srgbClr val="000000"/>
                </a:solidFill>
                <a:latin typeface="Arial" panose="020B0604020202090204"/>
                <a:ea typeface="Arial" panose="020B0604020202090204"/>
                <a:cs typeface="Arial" panose="020B0604020202090204"/>
              </a:defRPr>
            </a:lvl7pPr>
            <a:lvl8pPr>
              <a:defRPr sz="1800" b="0">
                <a:solidFill>
                  <a:srgbClr val="000000"/>
                </a:solidFill>
                <a:latin typeface="Arial" panose="020B0604020202090204"/>
                <a:ea typeface="Arial" panose="020B0604020202090204"/>
                <a:cs typeface="Arial" panose="020B0604020202090204"/>
              </a:defRPr>
            </a:lvl8pPr>
            <a:lvl9pPr>
              <a:defRPr sz="1800" b="0">
                <a:solidFill>
                  <a:srgbClr val="000000"/>
                </a:solidFill>
                <a:latin typeface="Arial" panose="020B0604020202090204"/>
                <a:ea typeface="Arial" panose="020B0604020202090204"/>
                <a:cs typeface="Arial" panose="020B0604020202090204"/>
              </a:defRPr>
            </a:lvl9pPr>
          </a:lstStyle>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Five scenarios in each language</a:t>
            </a:r>
            <a:endParaRPr sz="1800" b="0">
              <a:solidFill>
                <a:srgbClr val="000000"/>
              </a:solidFill>
              <a:latin typeface="Arial" panose="020B0604020202090204"/>
              <a:ea typeface="Arial" panose="020B0604020202090204"/>
              <a:cs typeface="Arial" panose="020B0604020202090204"/>
            </a:endParaRPr>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Saved states, evidence and metrics</a:t>
            </a:r>
            <a:endParaRPr sz="1800" b="0">
              <a:solidFill>
                <a:srgbClr val="000000"/>
              </a:solidFill>
              <a:latin typeface="Arial" panose="020B0604020202090204"/>
              <a:ea typeface="Arial" panose="020B0604020202090204"/>
              <a:cs typeface="Arial" panose="020B0604020202090204"/>
            </a:endParaRPr>
          </a:p>
        </p:txBody>
      </p:sp>
      <p:sp>
        <p:nvSpPr>
          <p:cNvPr id="14" name="矩形 13"/>
          <p:cNvSpPr>
            <a:spLocks noGrp="1"/>
          </p:cNvSpPr>
          <p:nvPr/>
        </p:nvSpPr>
        <p:spPr>
          <a:xfrm>
            <a:off x="6191250" y="4095750"/>
            <a:ext cx="4000500" cy="762000"/>
          </a:xfrm>
          <a:prstGeom prst="rect">
            <a:avLst/>
          </a:prstGeom>
          <a:noFill/>
          <a:ln w="0">
            <a:noFill/>
          </a:ln>
        </p:spPr>
        <p:txBody>
          <a:bodyPr anchor="t"/>
          <a:lstStyle>
            <a:defPPr>
              <a:defRPr sz="5100" b="1">
                <a:solidFill>
                  <a:srgbClr val="000000"/>
                </a:solidFill>
                <a:latin typeface="Arial" panose="020B0604020202090204"/>
                <a:ea typeface="Arial" panose="020B0604020202090204"/>
                <a:cs typeface="Arial" panose="020B0604020202090204"/>
              </a:defRPr>
            </a:defPPr>
            <a:lvl1pPr>
              <a:defRPr sz="5100" b="1">
                <a:solidFill>
                  <a:srgbClr val="000000"/>
                </a:solidFill>
                <a:latin typeface="Arial" panose="020B0604020202090204"/>
                <a:ea typeface="Arial" panose="020B0604020202090204"/>
                <a:cs typeface="Arial" panose="020B0604020202090204"/>
              </a:defRPr>
            </a:lvl1pPr>
            <a:lvl2pPr>
              <a:defRPr sz="5100" b="1">
                <a:solidFill>
                  <a:srgbClr val="000000"/>
                </a:solidFill>
                <a:latin typeface="Arial" panose="020B0604020202090204"/>
                <a:ea typeface="Arial" panose="020B0604020202090204"/>
                <a:cs typeface="Arial" panose="020B0604020202090204"/>
              </a:defRPr>
            </a:lvl2pPr>
            <a:lvl3pPr>
              <a:defRPr sz="5100" b="1">
                <a:solidFill>
                  <a:srgbClr val="000000"/>
                </a:solidFill>
                <a:latin typeface="Arial" panose="020B0604020202090204"/>
                <a:ea typeface="Arial" panose="020B0604020202090204"/>
                <a:cs typeface="Arial" panose="020B0604020202090204"/>
              </a:defRPr>
            </a:lvl3pPr>
            <a:lvl4pPr>
              <a:defRPr sz="5100" b="1">
                <a:solidFill>
                  <a:srgbClr val="000000"/>
                </a:solidFill>
                <a:latin typeface="Arial" panose="020B0604020202090204"/>
                <a:ea typeface="Arial" panose="020B0604020202090204"/>
                <a:cs typeface="Arial" panose="020B0604020202090204"/>
              </a:defRPr>
            </a:lvl4pPr>
            <a:lvl5pPr>
              <a:defRPr sz="5100" b="1">
                <a:solidFill>
                  <a:srgbClr val="000000"/>
                </a:solidFill>
                <a:latin typeface="Arial" panose="020B0604020202090204"/>
                <a:ea typeface="Arial" panose="020B0604020202090204"/>
                <a:cs typeface="Arial" panose="020B0604020202090204"/>
              </a:defRPr>
            </a:lvl5pPr>
            <a:lvl6pPr>
              <a:defRPr sz="5100" b="1">
                <a:solidFill>
                  <a:srgbClr val="000000"/>
                </a:solidFill>
                <a:latin typeface="Arial" panose="020B0604020202090204"/>
                <a:ea typeface="Arial" panose="020B0604020202090204"/>
                <a:cs typeface="Arial" panose="020B0604020202090204"/>
              </a:defRPr>
            </a:lvl6pPr>
            <a:lvl7pPr>
              <a:defRPr sz="5100" b="1">
                <a:solidFill>
                  <a:srgbClr val="000000"/>
                </a:solidFill>
                <a:latin typeface="Arial" panose="020B0604020202090204"/>
                <a:ea typeface="Arial" panose="020B0604020202090204"/>
                <a:cs typeface="Arial" panose="020B0604020202090204"/>
              </a:defRPr>
            </a:lvl7pPr>
            <a:lvl8pPr>
              <a:defRPr sz="5100" b="1">
                <a:solidFill>
                  <a:srgbClr val="000000"/>
                </a:solidFill>
                <a:latin typeface="Arial" panose="020B0604020202090204"/>
                <a:ea typeface="Arial" panose="020B0604020202090204"/>
                <a:cs typeface="Arial" panose="020B0604020202090204"/>
              </a:defRPr>
            </a:lvl8pPr>
            <a:lvl9pPr>
              <a:defRPr sz="5100" b="1">
                <a:solidFill>
                  <a:srgbClr val="000000"/>
                </a:solidFill>
                <a:latin typeface="Arial" panose="020B0604020202090204"/>
                <a:ea typeface="Arial" panose="020B0604020202090204"/>
                <a:cs typeface="Arial" panose="020B0604020202090204"/>
              </a:defRPr>
            </a:lvl9pPr>
          </a:lstStyle>
          <a:p>
            <a:pPr>
              <a:defRPr sz="5100" b="1">
                <a:solidFill>
                  <a:srgbClr val="000000"/>
                </a:solidFill>
                <a:latin typeface="Arial" panose="020B0604020202090204"/>
                <a:ea typeface="Arial" panose="020B0604020202090204"/>
                <a:cs typeface="Arial" panose="020B0604020202090204"/>
              </a:defRPr>
            </a:pPr>
            <a:r>
              <a:rPr sz="5100" b="1">
                <a:solidFill>
                  <a:srgbClr val="000000"/>
                </a:solidFill>
                <a:latin typeface="Arial" panose="020B0604020202090204"/>
                <a:ea typeface="Arial" panose="020B0604020202090204"/>
                <a:cs typeface="Arial" panose="020B0604020202090204"/>
              </a:rPr>
              <a:t>92%</a:t>
            </a:r>
            <a:endParaRPr sz="5100" b="1">
              <a:solidFill>
                <a:srgbClr val="000000"/>
              </a:solidFill>
              <a:latin typeface="Arial" panose="020B0604020202090204"/>
              <a:ea typeface="Arial" panose="020B0604020202090204"/>
              <a:cs typeface="Arial" panose="020B0604020202090204"/>
            </a:endParaRPr>
          </a:p>
        </p:txBody>
      </p:sp>
      <p:sp>
        <p:nvSpPr>
          <p:cNvPr id="15" name="矩形 14"/>
          <p:cNvSpPr>
            <a:spLocks noGrp="1"/>
          </p:cNvSpPr>
          <p:nvPr/>
        </p:nvSpPr>
        <p:spPr>
          <a:xfrm>
            <a:off x="6191250" y="4953000"/>
            <a:ext cx="4857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R2 statement coverage</a:t>
            </a:r>
            <a:endParaRPr sz="2025" b="1">
              <a:solidFill>
                <a:srgbClr val="000000"/>
              </a:solidFill>
              <a:latin typeface="Arial" panose="020B0604020202090204"/>
              <a:ea typeface="Arial" panose="020B0604020202090204"/>
              <a:cs typeface="Arial" panose="020B0604020202090204"/>
            </a:endParaRPr>
          </a:p>
        </p:txBody>
      </p:sp>
      <p:sp>
        <p:nvSpPr>
          <p:cNvPr id="16" name="矩形 15"/>
          <p:cNvSpPr>
            <a:spLocks noGrp="1"/>
          </p:cNvSpPr>
          <p:nvPr/>
        </p:nvSpPr>
        <p:spPr>
          <a:xfrm>
            <a:off x="6191250" y="5429250"/>
            <a:ext cx="4857750" cy="714375"/>
          </a:xfrm>
          <a:prstGeom prst="rect">
            <a:avLst/>
          </a:prstGeom>
          <a:noFill/>
          <a:ln w="0">
            <a:noFill/>
          </a:ln>
        </p:spPr>
        <p:txBody>
          <a:bodyPr anchor="t"/>
          <a:lstStyle>
            <a:defPPr>
              <a:defRPr sz="1800" b="0">
                <a:solidFill>
                  <a:srgbClr val="000000"/>
                </a:solidFill>
                <a:latin typeface="Arial" panose="020B0604020202090204"/>
                <a:ea typeface="Arial" panose="020B0604020202090204"/>
                <a:cs typeface="Arial" panose="020B0604020202090204"/>
              </a:defRPr>
            </a:defPPr>
            <a:lvl1pPr>
              <a:defRPr sz="1800" b="0">
                <a:solidFill>
                  <a:srgbClr val="000000"/>
                </a:solidFill>
                <a:latin typeface="Arial" panose="020B0604020202090204"/>
                <a:ea typeface="Arial" panose="020B0604020202090204"/>
                <a:cs typeface="Arial" panose="020B0604020202090204"/>
              </a:defRPr>
            </a:lvl1pPr>
            <a:lvl2pPr>
              <a:defRPr sz="1800" b="0">
                <a:solidFill>
                  <a:srgbClr val="000000"/>
                </a:solidFill>
                <a:latin typeface="Arial" panose="020B0604020202090204"/>
                <a:ea typeface="Arial" panose="020B0604020202090204"/>
                <a:cs typeface="Arial" panose="020B0604020202090204"/>
              </a:defRPr>
            </a:lvl2pPr>
            <a:lvl3pPr>
              <a:defRPr sz="1800" b="0">
                <a:solidFill>
                  <a:srgbClr val="000000"/>
                </a:solidFill>
                <a:latin typeface="Arial" panose="020B0604020202090204"/>
                <a:ea typeface="Arial" panose="020B0604020202090204"/>
                <a:cs typeface="Arial" panose="020B0604020202090204"/>
              </a:defRPr>
            </a:lvl3pPr>
            <a:lvl4pPr>
              <a:defRPr sz="1800" b="0">
                <a:solidFill>
                  <a:srgbClr val="000000"/>
                </a:solidFill>
                <a:latin typeface="Arial" panose="020B0604020202090204"/>
                <a:ea typeface="Arial" panose="020B0604020202090204"/>
                <a:cs typeface="Arial" panose="020B0604020202090204"/>
              </a:defRPr>
            </a:lvl4pPr>
            <a:lvl5pPr>
              <a:defRPr sz="1800" b="0">
                <a:solidFill>
                  <a:srgbClr val="000000"/>
                </a:solidFill>
                <a:latin typeface="Arial" panose="020B0604020202090204"/>
                <a:ea typeface="Arial" panose="020B0604020202090204"/>
                <a:cs typeface="Arial" panose="020B0604020202090204"/>
              </a:defRPr>
            </a:lvl5pPr>
            <a:lvl6pPr>
              <a:defRPr sz="1800" b="0">
                <a:solidFill>
                  <a:srgbClr val="000000"/>
                </a:solidFill>
                <a:latin typeface="Arial" panose="020B0604020202090204"/>
                <a:ea typeface="Arial" panose="020B0604020202090204"/>
                <a:cs typeface="Arial" panose="020B0604020202090204"/>
              </a:defRPr>
            </a:lvl6pPr>
            <a:lvl7pPr>
              <a:defRPr sz="1800" b="0">
                <a:solidFill>
                  <a:srgbClr val="000000"/>
                </a:solidFill>
                <a:latin typeface="Arial" panose="020B0604020202090204"/>
                <a:ea typeface="Arial" panose="020B0604020202090204"/>
                <a:cs typeface="Arial" panose="020B0604020202090204"/>
              </a:defRPr>
            </a:lvl7pPr>
            <a:lvl8pPr>
              <a:defRPr sz="1800" b="0">
                <a:solidFill>
                  <a:srgbClr val="000000"/>
                </a:solidFill>
                <a:latin typeface="Arial" panose="020B0604020202090204"/>
                <a:ea typeface="Arial" panose="020B0604020202090204"/>
                <a:cs typeface="Arial" panose="020B0604020202090204"/>
              </a:defRPr>
            </a:lvl8pPr>
            <a:lvl9pPr>
              <a:defRPr sz="1800" b="0">
                <a:solidFill>
                  <a:srgbClr val="000000"/>
                </a:solidFill>
                <a:latin typeface="Arial" panose="020B0604020202090204"/>
                <a:ea typeface="Arial" panose="020B0604020202090204"/>
                <a:cs typeface="Arial" panose="020B0604020202090204"/>
              </a:defRPr>
            </a:lvl9pPr>
          </a:lstStyle>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Unit/integration process only</a:t>
            </a:r>
            <a:endParaRPr sz="1800" b="0">
              <a:solidFill>
                <a:srgbClr val="000000"/>
              </a:solidFill>
              <a:latin typeface="Arial" panose="020B0604020202090204"/>
              <a:ea typeface="Arial" panose="020B0604020202090204"/>
              <a:cs typeface="Arial" panose="020B0604020202090204"/>
            </a:endParaRPr>
          </a:p>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This is not analysis accuracy</a:t>
            </a:r>
            <a:endParaRPr sz="1800" b="0">
              <a:solidFill>
                <a:srgbClr val="000000"/>
              </a:solidFill>
              <a:latin typeface="Arial" panose="020B0604020202090204"/>
              <a:ea typeface="Arial" panose="020B0604020202090204"/>
              <a:cs typeface="Arial" panose="020B0604020202090204"/>
            </a:endParaRPr>
          </a:p>
        </p:txBody>
      </p:sp>
      <p:sp>
        <p:nvSpPr>
          <p:cNvPr id="17" name="矩形 16"/>
          <p:cNvSpPr>
            <a:spLocks noGrp="1"/>
          </p:cNvSpPr>
          <p:nvPr/>
        </p:nvSpPr>
        <p:spPr>
          <a:xfrm>
            <a:off x="609600" y="1143000"/>
            <a:ext cx="9906000" cy="285750"/>
          </a:xfrm>
          <a:prstGeom prst="rect">
            <a:avLst/>
          </a:prstGeom>
          <a:noFill/>
          <a:ln w="0">
            <a:noFill/>
          </a:ln>
        </p:spPr>
        <p:txBody>
          <a:bodyPr/>
          <a:lstStyle>
            <a:defPPr>
              <a:defRPr sz="1500">
                <a:solidFill>
                  <a:srgbClr val="000000"/>
                </a:solidFill>
                <a:latin typeface="Arial" panose="020B0604020202090204"/>
                <a:ea typeface="Arial" panose="020B0604020202090204"/>
                <a:cs typeface="Arial" panose="020B0604020202090204"/>
              </a:defRPr>
            </a:defPPr>
            <a:lvl1pPr>
              <a:defRPr sz="1500">
                <a:solidFill>
                  <a:srgbClr val="000000"/>
                </a:solidFill>
                <a:latin typeface="Arial" panose="020B0604020202090204"/>
                <a:ea typeface="Arial" panose="020B0604020202090204"/>
                <a:cs typeface="Arial" panose="020B0604020202090204"/>
              </a:defRPr>
            </a:lvl1pPr>
            <a:lvl2pPr>
              <a:defRPr sz="1500">
                <a:solidFill>
                  <a:srgbClr val="000000"/>
                </a:solidFill>
                <a:latin typeface="Arial" panose="020B0604020202090204"/>
                <a:ea typeface="Arial" panose="020B0604020202090204"/>
                <a:cs typeface="Arial" panose="020B0604020202090204"/>
              </a:defRPr>
            </a:lvl2pPr>
            <a:lvl3pPr>
              <a:defRPr sz="1500">
                <a:solidFill>
                  <a:srgbClr val="000000"/>
                </a:solidFill>
                <a:latin typeface="Arial" panose="020B0604020202090204"/>
                <a:ea typeface="Arial" panose="020B0604020202090204"/>
                <a:cs typeface="Arial" panose="020B0604020202090204"/>
              </a:defRPr>
            </a:lvl3pPr>
            <a:lvl4pPr>
              <a:defRPr sz="1500">
                <a:solidFill>
                  <a:srgbClr val="000000"/>
                </a:solidFill>
                <a:latin typeface="Arial" panose="020B0604020202090204"/>
                <a:ea typeface="Arial" panose="020B0604020202090204"/>
                <a:cs typeface="Arial" panose="020B0604020202090204"/>
              </a:defRPr>
            </a:lvl4pPr>
            <a:lvl5pPr>
              <a:defRPr sz="1500">
                <a:solidFill>
                  <a:srgbClr val="000000"/>
                </a:solidFill>
                <a:latin typeface="Arial" panose="020B0604020202090204"/>
                <a:ea typeface="Arial" panose="020B0604020202090204"/>
                <a:cs typeface="Arial" panose="020B0604020202090204"/>
              </a:defRPr>
            </a:lvl5pPr>
            <a:lvl6pPr>
              <a:defRPr sz="1500">
                <a:solidFill>
                  <a:srgbClr val="000000"/>
                </a:solidFill>
                <a:latin typeface="Arial" panose="020B0604020202090204"/>
                <a:ea typeface="Arial" panose="020B0604020202090204"/>
                <a:cs typeface="Arial" panose="020B0604020202090204"/>
              </a:defRPr>
            </a:lvl6pPr>
            <a:lvl7pPr>
              <a:defRPr sz="1500">
                <a:solidFill>
                  <a:srgbClr val="000000"/>
                </a:solidFill>
                <a:latin typeface="Arial" panose="020B0604020202090204"/>
                <a:ea typeface="Arial" panose="020B0604020202090204"/>
                <a:cs typeface="Arial" panose="020B0604020202090204"/>
              </a:defRPr>
            </a:lvl7pPr>
            <a:lvl8pPr>
              <a:defRPr sz="1500">
                <a:solidFill>
                  <a:srgbClr val="000000"/>
                </a:solidFill>
                <a:latin typeface="Arial" panose="020B0604020202090204"/>
                <a:ea typeface="Arial" panose="020B0604020202090204"/>
                <a:cs typeface="Arial" panose="020B0604020202090204"/>
              </a:defRPr>
            </a:lvl8pPr>
            <a:lvl9pPr>
              <a:defRPr sz="1500">
                <a:solidFill>
                  <a:srgbClr val="000000"/>
                </a:solidFill>
                <a:latin typeface="Arial" panose="020B0604020202090204"/>
                <a:ea typeface="Arial" panose="020B0604020202090204"/>
                <a:cs typeface="Arial" panose="020B0604020202090204"/>
              </a:defRPr>
            </a:lvl9pPr>
          </a:lstStyle>
          <a:p>
            <a:pPr>
              <a:defRPr sz="1500">
                <a:solidFill>
                  <a:srgbClr val="000000"/>
                </a:solidFill>
                <a:latin typeface="Arial" panose="020B0604020202090204"/>
                <a:ea typeface="Arial" panose="020B0604020202090204"/>
                <a:cs typeface="Arial" panose="020B0604020202090204"/>
              </a:defRPr>
            </a:pPr>
            <a:r>
              <a:rPr sz="1500">
                <a:solidFill>
                  <a:srgbClr val="000000"/>
                </a:solidFill>
                <a:latin typeface="Arial" panose="020B0604020202090204"/>
                <a:ea typeface="Arial" panose="020B0604020202090204"/>
                <a:cs typeface="Arial" panose="020B0604020202090204"/>
              </a:rPr>
              <a:t>Repository verification record, 29 October 2026</a:t>
            </a:r>
            <a:endParaRPr sz="150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Known limits and remaining work</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12</a:t>
            </a:r>
            <a:endParaRPr sz="1200" b="0">
              <a:solidFill>
                <a:srgbClr val="000000"/>
              </a:solidFill>
              <a:latin typeface="Arial" panose="020B0604020202090204"/>
              <a:ea typeface="Arial" panose="020B0604020202090204"/>
              <a:cs typeface="Arial" panose="020B0604020202090204"/>
            </a:endParaRPr>
          </a:p>
        </p:txBody>
      </p:sp>
      <p:graphicFrame>
        <p:nvGraphicFramePr>
          <p:cNvPr id="5" name="表格 4"/>
          <p:cNvGraphicFramePr/>
          <p:nvPr/>
        </p:nvGraphicFramePr>
        <p:xfrm>
          <a:off x="609600" y="1571625"/>
          <a:ext cx="10287000" cy="3714750"/>
        </p:xfrm>
        <a:graphic>
          <a:graphicData uri="http://schemas.openxmlformats.org/drawingml/2006/table">
            <a:tbl>
              <a:tblPr/>
              <a:tblGrid>
                <a:gridCol w="3429000"/>
                <a:gridCol w="3429000"/>
                <a:gridCol w="3429000"/>
              </a:tblGrid>
              <a:tr h="619125">
                <a:tc>
                  <a:txBody>
                    <a:bodyPr/>
                    <a:lstStyle/>
                    <a:p>
                      <a:r>
                        <a:rPr sz="1800" b="1">
                          <a:solidFill>
                            <a:srgbClr val="000000"/>
                          </a:solidFill>
                          <a:latin typeface="Arial" panose="020B0604020202090204"/>
                          <a:ea typeface="Arial" panose="020B0604020202090204"/>
                          <a:cs typeface="Arial" panose="020B0604020202090204"/>
                        </a:rPr>
                        <a:t>Current limitation</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c>
                  <a:txBody>
                    <a:bodyPr/>
                    <a:lstStyle/>
                    <a:p>
                      <a:r>
                        <a:rPr sz="1800" b="1">
                          <a:solidFill>
                            <a:srgbClr val="000000"/>
                          </a:solidFill>
                          <a:latin typeface="Arial" panose="020B0604020202090204"/>
                          <a:ea typeface="Arial" panose="020B0604020202090204"/>
                          <a:cs typeface="Arial" panose="020B0604020202090204"/>
                        </a:rPr>
                        <a:t>Next step</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c>
                  <a:txBody>
                    <a:bodyPr/>
                    <a:lstStyle/>
                    <a:p>
                      <a:r>
                        <a:rPr sz="1800" b="1">
                          <a:solidFill>
                            <a:srgbClr val="000000"/>
                          </a:solidFill>
                          <a:latin typeface="Arial" panose="020B0604020202090204"/>
                          <a:ea typeface="Arial" panose="020B0604020202090204"/>
                          <a:cs typeface="Arial" panose="020B0604020202090204"/>
                        </a:rPr>
                        <a:t>Owner</a:t>
                      </a:r>
                      <a:endParaRPr sz="1800" b="1">
                        <a:solidFill>
                          <a:srgbClr val="000000"/>
                        </a:solidFill>
                        <a:latin typeface="Arial" panose="020B0604020202090204"/>
                        <a:ea typeface="Arial" panose="020B0604020202090204"/>
                        <a:cs typeface="Arial" panose="020B0604020202090204"/>
                      </a:endParaRPr>
                    </a:p>
                  </a:txBody>
                  <a:tcPr>
                    <a:solidFill>
                      <a:srgbClr val="DCEFE7"/>
                    </a:solidFill>
                  </a:tcPr>
                </a:tc>
              </a:tr>
              <a:tr h="619125">
                <a:tc>
                  <a:txBody>
                    <a:bodyPr/>
                    <a:lstStyle/>
                    <a:p>
                      <a:r>
                        <a:rPr sz="1725">
                          <a:solidFill>
                            <a:srgbClr val="000000"/>
                          </a:solidFill>
                          <a:latin typeface="Arial" panose="020B0604020202090204"/>
                          <a:ea typeface="Arial" panose="020B0604020202090204"/>
                          <a:cs typeface="Arial" panose="020B0604020202090204"/>
                        </a:rPr>
                        <a:t>Rules can miss warranty complaints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Build a labelled quality evaluation</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R3</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Grouping uses categories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Evaluate LLM and semantic grouping</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R3</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Product UI still uses mock data</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Connect reads, review writes and follow-up</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R4</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Platform samples need validation</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Confirm source data and ingestion scope</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R1</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r h="619125">
                <a:tc>
                  <a:txBody>
                    <a:bodyPr/>
                    <a:lstStyle/>
                    <a:p>
                      <a:r>
                        <a:rPr sz="1725">
                          <a:solidFill>
                            <a:srgbClr val="000000"/>
                          </a:solidFill>
                          <a:latin typeface="Arial" panose="020B0604020202090204"/>
                          <a:ea typeface="Arial" panose="020B0604020202090204"/>
                          <a:cs typeface="Arial" panose="020B0604020202090204"/>
                        </a:rPr>
                        <a:t>No manual replay API or audit</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Add controlled operations and regression tests</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c>
                  <a:txBody>
                    <a:bodyPr/>
                    <a:lstStyle/>
                    <a:p>
                      <a:r>
                        <a:rPr sz="1725">
                          <a:solidFill>
                            <a:srgbClr val="000000"/>
                          </a:solidFill>
                          <a:latin typeface="Arial" panose="020B0604020202090204"/>
                          <a:ea typeface="Arial" panose="020B0604020202090204"/>
                          <a:cs typeface="Arial" panose="020B0604020202090204"/>
                        </a:rPr>
                        <a:t>R2</a:t>
                      </a:r>
                      <a:endParaRPr sz="1725">
                        <a:solidFill>
                          <a:srgbClr val="000000"/>
                        </a:solidFill>
                        <a:latin typeface="Arial" panose="020B0604020202090204"/>
                        <a:ea typeface="Arial" panose="020B0604020202090204"/>
                        <a:cs typeface="Arial" panose="020B0604020202090204"/>
                      </a:endParaRPr>
                    </a:p>
                  </a:txBody>
                  <a:tcPr>
                    <a:solidFill>
                      <a:srgbClr val="FFFFFF"/>
                    </a:solidFill>
                  </a:tcPr>
                </a:tc>
              </a:tr>
            </a:tbl>
          </a:graphicData>
        </a:graphic>
      </p:graphicFrame>
      <p:sp>
        <p:nvSpPr>
          <p:cNvPr id="6" name="矩形 5"/>
          <p:cNvSpPr>
            <a:spLocks noGrp="1"/>
          </p:cNvSpPr>
          <p:nvPr/>
        </p:nvSpPr>
        <p:spPr>
          <a:xfrm>
            <a:off x="609600" y="5572125"/>
            <a:ext cx="10287000" cy="619125"/>
          </a:xfrm>
          <a:prstGeom prst="rect">
            <a:avLst/>
          </a:prstGeom>
          <a:noFill/>
          <a:ln w="0">
            <a:noFill/>
          </a:ln>
        </p:spPr>
        <p:txBody>
          <a:bodyPr anchor="t"/>
          <a:lstStyle>
            <a:defPPr>
              <a:defRPr sz="1800" b="0">
                <a:solidFill>
                  <a:srgbClr val="000000"/>
                </a:solidFill>
                <a:latin typeface="Arial" panose="020B0604020202090204"/>
                <a:ea typeface="Arial" panose="020B0604020202090204"/>
                <a:cs typeface="Arial" panose="020B0604020202090204"/>
              </a:defRPr>
            </a:defPPr>
            <a:lvl1pPr>
              <a:defRPr sz="1800" b="0">
                <a:solidFill>
                  <a:srgbClr val="000000"/>
                </a:solidFill>
                <a:latin typeface="Arial" panose="020B0604020202090204"/>
                <a:ea typeface="Arial" panose="020B0604020202090204"/>
                <a:cs typeface="Arial" panose="020B0604020202090204"/>
              </a:defRPr>
            </a:lvl1pPr>
            <a:lvl2pPr>
              <a:defRPr sz="1800" b="0">
                <a:solidFill>
                  <a:srgbClr val="000000"/>
                </a:solidFill>
                <a:latin typeface="Arial" panose="020B0604020202090204"/>
                <a:ea typeface="Arial" panose="020B0604020202090204"/>
                <a:cs typeface="Arial" panose="020B0604020202090204"/>
              </a:defRPr>
            </a:lvl2pPr>
            <a:lvl3pPr>
              <a:defRPr sz="1800" b="0">
                <a:solidFill>
                  <a:srgbClr val="000000"/>
                </a:solidFill>
                <a:latin typeface="Arial" panose="020B0604020202090204"/>
                <a:ea typeface="Arial" panose="020B0604020202090204"/>
                <a:cs typeface="Arial" panose="020B0604020202090204"/>
              </a:defRPr>
            </a:lvl3pPr>
            <a:lvl4pPr>
              <a:defRPr sz="1800" b="0">
                <a:solidFill>
                  <a:srgbClr val="000000"/>
                </a:solidFill>
                <a:latin typeface="Arial" panose="020B0604020202090204"/>
                <a:ea typeface="Arial" panose="020B0604020202090204"/>
                <a:cs typeface="Arial" panose="020B0604020202090204"/>
              </a:defRPr>
            </a:lvl4pPr>
            <a:lvl5pPr>
              <a:defRPr sz="1800" b="0">
                <a:solidFill>
                  <a:srgbClr val="000000"/>
                </a:solidFill>
                <a:latin typeface="Arial" panose="020B0604020202090204"/>
                <a:ea typeface="Arial" panose="020B0604020202090204"/>
                <a:cs typeface="Arial" panose="020B0604020202090204"/>
              </a:defRPr>
            </a:lvl5pPr>
            <a:lvl6pPr>
              <a:defRPr sz="1800" b="0">
                <a:solidFill>
                  <a:srgbClr val="000000"/>
                </a:solidFill>
                <a:latin typeface="Arial" panose="020B0604020202090204"/>
                <a:ea typeface="Arial" panose="020B0604020202090204"/>
                <a:cs typeface="Arial" panose="020B0604020202090204"/>
              </a:defRPr>
            </a:lvl6pPr>
            <a:lvl7pPr>
              <a:defRPr sz="1800" b="0">
                <a:solidFill>
                  <a:srgbClr val="000000"/>
                </a:solidFill>
                <a:latin typeface="Arial" panose="020B0604020202090204"/>
                <a:ea typeface="Arial" panose="020B0604020202090204"/>
                <a:cs typeface="Arial" panose="020B0604020202090204"/>
              </a:defRPr>
            </a:lvl7pPr>
            <a:lvl8pPr>
              <a:defRPr sz="1800" b="0">
                <a:solidFill>
                  <a:srgbClr val="000000"/>
                </a:solidFill>
                <a:latin typeface="Arial" panose="020B0604020202090204"/>
                <a:ea typeface="Arial" panose="020B0604020202090204"/>
                <a:cs typeface="Arial" panose="020B0604020202090204"/>
              </a:defRPr>
            </a:lvl8pPr>
            <a:lvl9pPr>
              <a:defRPr sz="1800" b="0">
                <a:solidFill>
                  <a:srgbClr val="000000"/>
                </a:solidFill>
                <a:latin typeface="Arial" panose="020B0604020202090204"/>
                <a:ea typeface="Arial" panose="020B0604020202090204"/>
                <a:cs typeface="Arial" panose="020B0604020202090204"/>
              </a:defRPr>
            </a:lvl9pPr>
          </a:lstStyle>
          <a:p>
            <a:pPr>
              <a:defRPr sz="1800" b="0">
                <a:solidFill>
                  <a:srgbClr val="000000"/>
                </a:solidFill>
                <a:latin typeface="Arial" panose="020B0604020202090204"/>
                <a:ea typeface="Arial" panose="020B0604020202090204"/>
                <a:cs typeface="Arial" panose="020B0604020202090204"/>
              </a:defRPr>
            </a:pPr>
            <a:r>
              <a:rPr sz="1800" b="0">
                <a:solidFill>
                  <a:srgbClr val="000000"/>
                </a:solidFill>
                <a:latin typeface="Arial" panose="020B0604020202090204"/>
                <a:ea typeface="Arial" panose="020B0604020202090204"/>
                <a:cs typeface="Arial" panose="020B0604020202090204"/>
              </a:rPr>
              <a:t>A “no” or “unknown” result does not prove that a review has no complaint. Verbatim evidence checks confirm location, not interpretation.</a:t>
            </a:r>
            <a:endParaRPr sz="1800"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Reproducing the demonstration</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13</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716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Windows</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143125"/>
            <a:ext cx="10287000" cy="523875"/>
          </a:xfrm>
          <a:prstGeom prst="rect">
            <a:avLst/>
          </a:prstGeom>
          <a:noFill/>
          <a:ln w="0">
            <a:noFill/>
          </a:ln>
        </p:spPr>
        <p:txBody>
          <a:bodyPr anchor="t"/>
          <a:lstStyle>
            <a:defPPr>
              <a:defRPr sz="2100" b="1">
                <a:solidFill>
                  <a:srgbClr val="000000"/>
                </a:solidFill>
                <a:latin typeface="Courier New" panose="02070409020205090404"/>
                <a:ea typeface="Courier New" panose="02070409020205090404"/>
                <a:cs typeface="Courier New" panose="02070409020205090404"/>
              </a:defRPr>
            </a:defPPr>
            <a:lvl1pPr>
              <a:defRPr sz="2100" b="1">
                <a:solidFill>
                  <a:srgbClr val="000000"/>
                </a:solidFill>
                <a:latin typeface="Courier New" panose="02070409020205090404"/>
                <a:ea typeface="Courier New" panose="02070409020205090404"/>
                <a:cs typeface="Courier New" panose="02070409020205090404"/>
              </a:defRPr>
            </a:lvl1pPr>
            <a:lvl2pPr>
              <a:defRPr sz="2100" b="1">
                <a:solidFill>
                  <a:srgbClr val="000000"/>
                </a:solidFill>
                <a:latin typeface="Courier New" panose="02070409020205090404"/>
                <a:ea typeface="Courier New" panose="02070409020205090404"/>
                <a:cs typeface="Courier New" panose="02070409020205090404"/>
              </a:defRPr>
            </a:lvl2pPr>
            <a:lvl3pPr>
              <a:defRPr sz="2100" b="1">
                <a:solidFill>
                  <a:srgbClr val="000000"/>
                </a:solidFill>
                <a:latin typeface="Courier New" panose="02070409020205090404"/>
                <a:ea typeface="Courier New" panose="02070409020205090404"/>
                <a:cs typeface="Courier New" panose="02070409020205090404"/>
              </a:defRPr>
            </a:lvl3pPr>
            <a:lvl4pPr>
              <a:defRPr sz="2100" b="1">
                <a:solidFill>
                  <a:srgbClr val="000000"/>
                </a:solidFill>
                <a:latin typeface="Courier New" panose="02070409020205090404"/>
                <a:ea typeface="Courier New" panose="02070409020205090404"/>
                <a:cs typeface="Courier New" panose="02070409020205090404"/>
              </a:defRPr>
            </a:lvl4pPr>
            <a:lvl5pPr>
              <a:defRPr sz="2100" b="1">
                <a:solidFill>
                  <a:srgbClr val="000000"/>
                </a:solidFill>
                <a:latin typeface="Courier New" panose="02070409020205090404"/>
                <a:ea typeface="Courier New" panose="02070409020205090404"/>
                <a:cs typeface="Courier New" panose="02070409020205090404"/>
              </a:defRPr>
            </a:lvl5pPr>
            <a:lvl6pPr>
              <a:defRPr sz="2100" b="1">
                <a:solidFill>
                  <a:srgbClr val="000000"/>
                </a:solidFill>
                <a:latin typeface="Courier New" panose="02070409020205090404"/>
                <a:ea typeface="Courier New" panose="02070409020205090404"/>
                <a:cs typeface="Courier New" panose="02070409020205090404"/>
              </a:defRPr>
            </a:lvl6pPr>
            <a:lvl7pPr>
              <a:defRPr sz="2100" b="1">
                <a:solidFill>
                  <a:srgbClr val="000000"/>
                </a:solidFill>
                <a:latin typeface="Courier New" panose="02070409020205090404"/>
                <a:ea typeface="Courier New" panose="02070409020205090404"/>
                <a:cs typeface="Courier New" panose="02070409020205090404"/>
              </a:defRPr>
            </a:lvl7pPr>
            <a:lvl8pPr>
              <a:defRPr sz="2100" b="1">
                <a:solidFill>
                  <a:srgbClr val="000000"/>
                </a:solidFill>
                <a:latin typeface="Courier New" panose="02070409020205090404"/>
                <a:ea typeface="Courier New" panose="02070409020205090404"/>
                <a:cs typeface="Courier New" panose="02070409020205090404"/>
              </a:defRPr>
            </a:lvl8pPr>
            <a:lvl9pPr>
              <a:defRPr sz="2100" b="1">
                <a:solidFill>
                  <a:srgbClr val="000000"/>
                </a:solidFill>
                <a:latin typeface="Courier New" panose="02070409020205090404"/>
                <a:ea typeface="Courier New" panose="02070409020205090404"/>
                <a:cs typeface="Courier New" panose="02070409020205090404"/>
              </a:defRPr>
            </a:lvl9pPr>
          </a:lstStyle>
          <a:p>
            <a:pPr>
              <a:defRPr sz="2100" b="0">
                <a:solidFill>
                  <a:srgbClr val="000000"/>
                </a:solidFill>
                <a:latin typeface="Arial" panose="020B0604020202090204"/>
                <a:ea typeface="Arial" panose="020B0604020202090204"/>
                <a:cs typeface="Arial" panose="020B0604020202090204"/>
              </a:defRPr>
            </a:pPr>
            <a:r>
              <a:rPr sz="2100" b="1">
                <a:solidFill>
                  <a:srgbClr val="000000"/>
                </a:solidFill>
                <a:latin typeface="Courier New" panose="02070409020205090404"/>
                <a:ea typeface="Courier New" panose="02070409020205090404"/>
                <a:cs typeface="Courier New" panose="02070409020205090404"/>
              </a:rPr>
              <a:t>.\scripts\start_midterm_demo.ps1</a:t>
            </a:r>
            <a:endParaRPr sz="2100" b="1">
              <a:solidFill>
                <a:srgbClr val="000000"/>
              </a:solidFill>
              <a:latin typeface="Courier New" panose="02070409020205090404"/>
              <a:ea typeface="Courier New" panose="02070409020205090404"/>
              <a:cs typeface="Courier New" panose="02070409020205090404"/>
            </a:endParaRPr>
          </a:p>
        </p:txBody>
      </p:sp>
      <p:sp>
        <p:nvSpPr>
          <p:cNvPr id="7" name="矩形 6"/>
          <p:cNvSpPr>
            <a:spLocks noGrp="1"/>
          </p:cNvSpPr>
          <p:nvPr/>
        </p:nvSpPr>
        <p:spPr>
          <a:xfrm>
            <a:off x="609600" y="314325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macOS / Linux</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609600" y="3714750"/>
            <a:ext cx="10287000" cy="857250"/>
          </a:xfrm>
          <a:prstGeom prst="rect">
            <a:avLst/>
          </a:prstGeom>
          <a:noFill/>
          <a:ln w="0">
            <a:noFill/>
          </a:ln>
        </p:spPr>
        <p:txBody>
          <a:bodyPr anchor="t"/>
          <a:lstStyle>
            <a:defPPr>
              <a:defRPr sz="1800" b="1">
                <a:solidFill>
                  <a:srgbClr val="000000"/>
                </a:solidFill>
                <a:latin typeface="Courier New" panose="02070409020205090404"/>
                <a:ea typeface="Courier New" panose="02070409020205090404"/>
                <a:cs typeface="Courier New" panose="02070409020205090404"/>
              </a:defRPr>
            </a:defPPr>
            <a:lvl1pPr>
              <a:defRPr sz="1800" b="1">
                <a:solidFill>
                  <a:srgbClr val="000000"/>
                </a:solidFill>
                <a:latin typeface="Courier New" panose="02070409020205090404"/>
                <a:ea typeface="Courier New" panose="02070409020205090404"/>
                <a:cs typeface="Courier New" panose="02070409020205090404"/>
              </a:defRPr>
            </a:lvl1pPr>
            <a:lvl2pPr>
              <a:defRPr sz="1800" b="1">
                <a:solidFill>
                  <a:srgbClr val="000000"/>
                </a:solidFill>
                <a:latin typeface="Courier New" panose="02070409020205090404"/>
                <a:ea typeface="Courier New" panose="02070409020205090404"/>
                <a:cs typeface="Courier New" panose="02070409020205090404"/>
              </a:defRPr>
            </a:lvl2pPr>
            <a:lvl3pPr>
              <a:defRPr sz="1800" b="1">
                <a:solidFill>
                  <a:srgbClr val="000000"/>
                </a:solidFill>
                <a:latin typeface="Courier New" panose="02070409020205090404"/>
                <a:ea typeface="Courier New" panose="02070409020205090404"/>
                <a:cs typeface="Courier New" panose="02070409020205090404"/>
              </a:defRPr>
            </a:lvl3pPr>
            <a:lvl4pPr>
              <a:defRPr sz="1800" b="1">
                <a:solidFill>
                  <a:srgbClr val="000000"/>
                </a:solidFill>
                <a:latin typeface="Courier New" panose="02070409020205090404"/>
                <a:ea typeface="Courier New" panose="02070409020205090404"/>
                <a:cs typeface="Courier New" panose="02070409020205090404"/>
              </a:defRPr>
            </a:lvl4pPr>
            <a:lvl5pPr>
              <a:defRPr sz="1800" b="1">
                <a:solidFill>
                  <a:srgbClr val="000000"/>
                </a:solidFill>
                <a:latin typeface="Courier New" panose="02070409020205090404"/>
                <a:ea typeface="Courier New" panose="02070409020205090404"/>
                <a:cs typeface="Courier New" panose="02070409020205090404"/>
              </a:defRPr>
            </a:lvl5pPr>
            <a:lvl6pPr>
              <a:defRPr sz="1800" b="1">
                <a:solidFill>
                  <a:srgbClr val="000000"/>
                </a:solidFill>
                <a:latin typeface="Courier New" panose="02070409020205090404"/>
                <a:ea typeface="Courier New" panose="02070409020205090404"/>
                <a:cs typeface="Courier New" panose="02070409020205090404"/>
              </a:defRPr>
            </a:lvl6pPr>
            <a:lvl7pPr>
              <a:defRPr sz="1800" b="1">
                <a:solidFill>
                  <a:srgbClr val="000000"/>
                </a:solidFill>
                <a:latin typeface="Courier New" panose="02070409020205090404"/>
                <a:ea typeface="Courier New" panose="02070409020205090404"/>
                <a:cs typeface="Courier New" panose="02070409020205090404"/>
              </a:defRPr>
            </a:lvl7pPr>
            <a:lvl8pPr>
              <a:defRPr sz="1800" b="1">
                <a:solidFill>
                  <a:srgbClr val="000000"/>
                </a:solidFill>
                <a:latin typeface="Courier New" panose="02070409020205090404"/>
                <a:ea typeface="Courier New" panose="02070409020205090404"/>
                <a:cs typeface="Courier New" panose="02070409020205090404"/>
              </a:defRPr>
            </a:lvl8pPr>
            <a:lvl9pPr>
              <a:defRPr sz="1800" b="1">
                <a:solidFill>
                  <a:srgbClr val="000000"/>
                </a:solidFill>
                <a:latin typeface="Courier New" panose="02070409020205090404"/>
                <a:ea typeface="Courier New" panose="02070409020205090404"/>
                <a:cs typeface="Courier New" panose="02070409020205090404"/>
              </a:defRPr>
            </a:lvl9pPr>
          </a:lstStyle>
          <a:p>
            <a:pPr>
              <a:defRPr sz="2025" b="0">
                <a:solidFill>
                  <a:srgbClr val="000000"/>
                </a:solidFill>
                <a:latin typeface="Arial" panose="020B0604020202090204"/>
                <a:ea typeface="Arial" panose="020B0604020202090204"/>
                <a:cs typeface="Arial" panose="020B0604020202090204"/>
              </a:defRPr>
            </a:pPr>
            <a:r>
              <a:rPr sz="1800" b="1">
                <a:solidFill>
                  <a:srgbClr val="000000"/>
                </a:solidFill>
                <a:latin typeface="Courier New" panose="02070409020205090404"/>
                <a:ea typeface="Courier New" panose="02070409020205090404"/>
                <a:cs typeface="Courier New" panose="02070409020205090404"/>
              </a:rPr>
              <a:t>docker compose -f compose.midterm.yaml up --build -d --wait</a:t>
            </a:r>
            <a:endParaRPr sz="1800" b="1">
              <a:solidFill>
                <a:srgbClr val="000000"/>
              </a:solidFill>
              <a:latin typeface="Courier New" panose="02070409020205090404"/>
              <a:ea typeface="Courier New" panose="02070409020205090404"/>
              <a:cs typeface="Courier New" panose="02070409020205090404"/>
            </a:endParaRPr>
          </a:p>
        </p:txBody>
      </p:sp>
      <p:sp>
        <p:nvSpPr>
          <p:cNvPr id="9" name="矩形 8"/>
          <p:cNvSpPr>
            <a:spLocks noGrp="1"/>
          </p:cNvSpPr>
          <p:nvPr/>
        </p:nvSpPr>
        <p:spPr>
          <a:xfrm>
            <a:off x="609600" y="4953000"/>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Open the English page</a:t>
            </a:r>
            <a:endParaRPr sz="2025" b="1">
              <a:solidFill>
                <a:srgbClr val="000000"/>
              </a:solidFill>
              <a:latin typeface="Arial" panose="020B0604020202090204"/>
              <a:ea typeface="Arial" panose="020B0604020202090204"/>
              <a:cs typeface="Arial" panose="020B0604020202090204"/>
            </a:endParaRPr>
          </a:p>
        </p:txBody>
      </p:sp>
      <p:sp>
        <p:nvSpPr>
          <p:cNvPr id="10" name="矩形 9"/>
          <p:cNvSpPr>
            <a:spLocks noGrp="1"/>
          </p:cNvSpPr>
          <p:nvPr/>
        </p:nvSpPr>
        <p:spPr>
          <a:xfrm>
            <a:off x="609600" y="5476875"/>
            <a:ext cx="10096500" cy="476250"/>
          </a:xfrm>
          <a:prstGeom prst="rect">
            <a:avLst/>
          </a:prstGeom>
          <a:noFill/>
          <a:ln w="0">
            <a:noFill/>
          </a:ln>
        </p:spPr>
        <p:txBody>
          <a:bodyPr anchor="t"/>
          <a:lstStyle>
            <a:defPPr>
              <a:defRPr sz="2400" b="0">
                <a:solidFill>
                  <a:srgbClr val="000000"/>
                </a:solidFill>
                <a:latin typeface="Arial" panose="020B0604020202090204"/>
                <a:ea typeface="Arial" panose="020B0604020202090204"/>
                <a:cs typeface="Arial" panose="020B0604020202090204"/>
              </a:defRPr>
            </a:defPPr>
            <a:lvl1pPr>
              <a:defRPr sz="2400" b="0">
                <a:solidFill>
                  <a:srgbClr val="000000"/>
                </a:solidFill>
                <a:latin typeface="Arial" panose="020B0604020202090204"/>
                <a:ea typeface="Arial" panose="020B0604020202090204"/>
                <a:cs typeface="Arial" panose="020B0604020202090204"/>
              </a:defRPr>
            </a:lvl1pPr>
            <a:lvl2pPr>
              <a:defRPr sz="2400" b="0">
                <a:solidFill>
                  <a:srgbClr val="000000"/>
                </a:solidFill>
                <a:latin typeface="Arial" panose="020B0604020202090204"/>
                <a:ea typeface="Arial" panose="020B0604020202090204"/>
                <a:cs typeface="Arial" panose="020B0604020202090204"/>
              </a:defRPr>
            </a:lvl2pPr>
            <a:lvl3pPr>
              <a:defRPr sz="2400" b="0">
                <a:solidFill>
                  <a:srgbClr val="000000"/>
                </a:solidFill>
                <a:latin typeface="Arial" panose="020B0604020202090204"/>
                <a:ea typeface="Arial" panose="020B0604020202090204"/>
                <a:cs typeface="Arial" panose="020B0604020202090204"/>
              </a:defRPr>
            </a:lvl3pPr>
            <a:lvl4pPr>
              <a:defRPr sz="2400" b="0">
                <a:solidFill>
                  <a:srgbClr val="000000"/>
                </a:solidFill>
                <a:latin typeface="Arial" panose="020B0604020202090204"/>
                <a:ea typeface="Arial" panose="020B0604020202090204"/>
                <a:cs typeface="Arial" panose="020B0604020202090204"/>
              </a:defRPr>
            </a:lvl4pPr>
            <a:lvl5pPr>
              <a:defRPr sz="2400" b="0">
                <a:solidFill>
                  <a:srgbClr val="000000"/>
                </a:solidFill>
                <a:latin typeface="Arial" panose="020B0604020202090204"/>
                <a:ea typeface="Arial" panose="020B0604020202090204"/>
                <a:cs typeface="Arial" panose="020B0604020202090204"/>
              </a:defRPr>
            </a:lvl5pPr>
            <a:lvl6pPr>
              <a:defRPr sz="2400" b="0">
                <a:solidFill>
                  <a:srgbClr val="000000"/>
                </a:solidFill>
                <a:latin typeface="Arial" panose="020B0604020202090204"/>
                <a:ea typeface="Arial" panose="020B0604020202090204"/>
                <a:cs typeface="Arial" panose="020B0604020202090204"/>
              </a:defRPr>
            </a:lvl6pPr>
            <a:lvl7pPr>
              <a:defRPr sz="2400" b="0">
                <a:solidFill>
                  <a:srgbClr val="000000"/>
                </a:solidFill>
                <a:latin typeface="Arial" panose="020B0604020202090204"/>
                <a:ea typeface="Arial" panose="020B0604020202090204"/>
                <a:cs typeface="Arial" panose="020B0604020202090204"/>
              </a:defRPr>
            </a:lvl7pPr>
            <a:lvl8pPr>
              <a:defRPr sz="2400" b="0">
                <a:solidFill>
                  <a:srgbClr val="000000"/>
                </a:solidFill>
                <a:latin typeface="Arial" panose="020B0604020202090204"/>
                <a:ea typeface="Arial" panose="020B0604020202090204"/>
                <a:cs typeface="Arial" panose="020B0604020202090204"/>
              </a:defRPr>
            </a:lvl8pPr>
            <a:lvl9pPr>
              <a:defRPr sz="2400" b="0">
                <a:solidFill>
                  <a:srgbClr val="000000"/>
                </a:solidFill>
                <a:latin typeface="Arial" panose="020B0604020202090204"/>
                <a:ea typeface="Arial" panose="020B0604020202090204"/>
                <a:cs typeface="Arial" panose="020B0604020202090204"/>
              </a:defRPr>
            </a:lvl9pPr>
          </a:lstStyle>
          <a:p>
            <a:pPr>
              <a:defRPr sz="2400" b="0">
                <a:solidFill>
                  <a:srgbClr val="000000"/>
                </a:solidFill>
                <a:latin typeface="Arial" panose="020B0604020202090204"/>
                <a:ea typeface="Arial" panose="020B0604020202090204"/>
                <a:cs typeface="Arial" panose="020B0604020202090204"/>
              </a:defRPr>
            </a:pPr>
            <a:r>
              <a:rPr sz="2400" b="0">
                <a:solidFill>
                  <a:srgbClr val="000000"/>
                </a:solidFill>
                <a:latin typeface="Arial" panose="020B0604020202090204"/>
                <a:ea typeface="Arial" panose="020B0604020202090204"/>
                <a:cs typeface="Arial" panose="020B0604020202090204"/>
              </a:rPr>
              <a:t>http://localhost:18717/en</a:t>
            </a:r>
            <a:endParaRPr sz="2400" b="0">
              <a:solidFill>
                <a:srgbClr val="000000"/>
              </a:solidFill>
              <a:latin typeface="Arial" panose="020B0604020202090204"/>
              <a:ea typeface="Arial" panose="020B0604020202090204"/>
              <a:cs typeface="Arial" panose="020B0604020202090204"/>
            </a:endParaRPr>
          </a:p>
        </p:txBody>
      </p:sp>
      <p:sp>
        <p:nvSpPr>
          <p:cNvPr id="11" name="矩形 10"/>
          <p:cNvSpPr>
            <a:spLocks noGrp="1"/>
          </p:cNvSpPr>
          <p:nvPr/>
        </p:nvSpPr>
        <p:spPr>
          <a:xfrm>
            <a:off x="609600" y="1143000"/>
            <a:ext cx="9906000" cy="285750"/>
          </a:xfrm>
          <a:prstGeom prst="rect">
            <a:avLst/>
          </a:prstGeom>
          <a:noFill/>
          <a:ln w="0">
            <a:noFill/>
          </a:ln>
        </p:spPr>
        <p:txBody>
          <a:bodyPr/>
          <a:lstStyle>
            <a:defPPr>
              <a:defRPr sz="1500">
                <a:solidFill>
                  <a:srgbClr val="000000"/>
                </a:solidFill>
                <a:latin typeface="Arial" panose="020B0604020202090204"/>
                <a:ea typeface="Arial" panose="020B0604020202090204"/>
                <a:cs typeface="Arial" panose="020B0604020202090204"/>
              </a:defRPr>
            </a:defPPr>
            <a:lvl1pPr>
              <a:defRPr sz="1500">
                <a:solidFill>
                  <a:srgbClr val="000000"/>
                </a:solidFill>
                <a:latin typeface="Arial" panose="020B0604020202090204"/>
                <a:ea typeface="Arial" panose="020B0604020202090204"/>
                <a:cs typeface="Arial" panose="020B0604020202090204"/>
              </a:defRPr>
            </a:lvl1pPr>
            <a:lvl2pPr>
              <a:defRPr sz="1500">
                <a:solidFill>
                  <a:srgbClr val="000000"/>
                </a:solidFill>
                <a:latin typeface="Arial" panose="020B0604020202090204"/>
                <a:ea typeface="Arial" panose="020B0604020202090204"/>
                <a:cs typeface="Arial" panose="020B0604020202090204"/>
              </a:defRPr>
            </a:lvl2pPr>
            <a:lvl3pPr>
              <a:defRPr sz="1500">
                <a:solidFill>
                  <a:srgbClr val="000000"/>
                </a:solidFill>
                <a:latin typeface="Arial" panose="020B0604020202090204"/>
                <a:ea typeface="Arial" panose="020B0604020202090204"/>
                <a:cs typeface="Arial" panose="020B0604020202090204"/>
              </a:defRPr>
            </a:lvl3pPr>
            <a:lvl4pPr>
              <a:defRPr sz="1500">
                <a:solidFill>
                  <a:srgbClr val="000000"/>
                </a:solidFill>
                <a:latin typeface="Arial" panose="020B0604020202090204"/>
                <a:ea typeface="Arial" panose="020B0604020202090204"/>
                <a:cs typeface="Arial" panose="020B0604020202090204"/>
              </a:defRPr>
            </a:lvl4pPr>
            <a:lvl5pPr>
              <a:defRPr sz="1500">
                <a:solidFill>
                  <a:srgbClr val="000000"/>
                </a:solidFill>
                <a:latin typeface="Arial" panose="020B0604020202090204"/>
                <a:ea typeface="Arial" panose="020B0604020202090204"/>
                <a:cs typeface="Arial" panose="020B0604020202090204"/>
              </a:defRPr>
            </a:lvl5pPr>
            <a:lvl6pPr>
              <a:defRPr sz="1500">
                <a:solidFill>
                  <a:srgbClr val="000000"/>
                </a:solidFill>
                <a:latin typeface="Arial" panose="020B0604020202090204"/>
                <a:ea typeface="Arial" panose="020B0604020202090204"/>
                <a:cs typeface="Arial" panose="020B0604020202090204"/>
              </a:defRPr>
            </a:lvl6pPr>
            <a:lvl7pPr>
              <a:defRPr sz="1500">
                <a:solidFill>
                  <a:srgbClr val="000000"/>
                </a:solidFill>
                <a:latin typeface="Arial" panose="020B0604020202090204"/>
                <a:ea typeface="Arial" panose="020B0604020202090204"/>
                <a:cs typeface="Arial" panose="020B0604020202090204"/>
              </a:defRPr>
            </a:lvl7pPr>
            <a:lvl8pPr>
              <a:defRPr sz="1500">
                <a:solidFill>
                  <a:srgbClr val="000000"/>
                </a:solidFill>
                <a:latin typeface="Arial" panose="020B0604020202090204"/>
                <a:ea typeface="Arial" panose="020B0604020202090204"/>
                <a:cs typeface="Arial" panose="020B0604020202090204"/>
              </a:defRPr>
            </a:lvl8pPr>
            <a:lvl9pPr>
              <a:defRPr sz="1500">
                <a:solidFill>
                  <a:srgbClr val="000000"/>
                </a:solidFill>
                <a:latin typeface="Arial" panose="020B0604020202090204"/>
                <a:ea typeface="Arial" panose="020B0604020202090204"/>
                <a:cs typeface="Arial" panose="020B0604020202090204"/>
              </a:defRPr>
            </a:lvl9pPr>
          </a:lstStyle>
          <a:p>
            <a:pPr>
              <a:defRPr sz="1500">
                <a:solidFill>
                  <a:srgbClr val="000000"/>
                </a:solidFill>
                <a:latin typeface="Arial" panose="020B0604020202090204"/>
                <a:ea typeface="Arial" panose="020B0604020202090204"/>
                <a:cs typeface="Arial" panose="020B0604020202090204"/>
              </a:defRPr>
            </a:pPr>
            <a:r>
              <a:rPr sz="1500">
                <a:solidFill>
                  <a:srgbClr val="000000"/>
                </a:solidFill>
                <a:latin typeface="Arial" panose="020B0604020202090204"/>
                <a:ea typeface="Arial" panose="020B0604020202090204"/>
                <a:cs typeface="Arial" panose="020B0604020202090204"/>
              </a:rPr>
              <a:t>Start Docker Desktop and run these commands at the repository root.</a:t>
            </a:r>
            <a:endParaRPr sz="150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7" b="27"/>
          <a:stretch>
            <a:fillRect/>
          </a:stretch>
        </p:blipFill>
        <p:spPr>
          <a:xfrm>
            <a:off x="0" y="0"/>
            <a:ext cx="12192000" cy="6858000"/>
          </a:xfrm>
          <a:prstGeom prst="rect">
            <a:avLst/>
          </a:prstGeom>
        </p:spPr>
      </p:pic>
      <p:sp>
        <p:nvSpPr>
          <p:cNvPr id="3" name="矩形 2"/>
          <p:cNvSpPr>
            <a:spLocks noGrp="1"/>
          </p:cNvSpPr>
          <p:nvPr/>
        </p:nvSpPr>
        <p:spPr>
          <a:xfrm>
            <a:off x="609600" y="476250"/>
            <a:ext cx="10287000" cy="809625"/>
          </a:xfrm>
          <a:prstGeom prst="rect">
            <a:avLst/>
          </a:prstGeom>
          <a:noFill/>
          <a:ln w="0">
            <a:noFill/>
          </a:ln>
        </p:spPr>
        <p:txBody>
          <a:bodyPr anchor="t"/>
          <a:lstStyle>
            <a:defPPr>
              <a:defRPr sz="3150" b="1">
                <a:solidFill>
                  <a:srgbClr val="000000"/>
                </a:solidFill>
                <a:latin typeface="Arial" panose="020B0604020202090204"/>
                <a:ea typeface="Arial" panose="020B0604020202090204"/>
                <a:cs typeface="Arial" panose="020B0604020202090204"/>
              </a:defRPr>
            </a:defPPr>
            <a:lvl1pPr>
              <a:defRPr sz="3150" b="1">
                <a:solidFill>
                  <a:srgbClr val="000000"/>
                </a:solidFill>
                <a:latin typeface="Arial" panose="020B0604020202090204"/>
                <a:ea typeface="Arial" panose="020B0604020202090204"/>
                <a:cs typeface="Arial" panose="020B0604020202090204"/>
              </a:defRPr>
            </a:lvl1pPr>
            <a:lvl2pPr>
              <a:defRPr sz="3150" b="1">
                <a:solidFill>
                  <a:srgbClr val="000000"/>
                </a:solidFill>
                <a:latin typeface="Arial" panose="020B0604020202090204"/>
                <a:ea typeface="Arial" panose="020B0604020202090204"/>
                <a:cs typeface="Arial" panose="020B0604020202090204"/>
              </a:defRPr>
            </a:lvl2pPr>
            <a:lvl3pPr>
              <a:defRPr sz="3150" b="1">
                <a:solidFill>
                  <a:srgbClr val="000000"/>
                </a:solidFill>
                <a:latin typeface="Arial" panose="020B0604020202090204"/>
                <a:ea typeface="Arial" panose="020B0604020202090204"/>
                <a:cs typeface="Arial" panose="020B0604020202090204"/>
              </a:defRPr>
            </a:lvl3pPr>
            <a:lvl4pPr>
              <a:defRPr sz="3150" b="1">
                <a:solidFill>
                  <a:srgbClr val="000000"/>
                </a:solidFill>
                <a:latin typeface="Arial" panose="020B0604020202090204"/>
                <a:ea typeface="Arial" panose="020B0604020202090204"/>
                <a:cs typeface="Arial" panose="020B0604020202090204"/>
              </a:defRPr>
            </a:lvl4pPr>
            <a:lvl5pPr>
              <a:defRPr sz="3150" b="1">
                <a:solidFill>
                  <a:srgbClr val="000000"/>
                </a:solidFill>
                <a:latin typeface="Arial" panose="020B0604020202090204"/>
                <a:ea typeface="Arial" panose="020B0604020202090204"/>
                <a:cs typeface="Arial" panose="020B0604020202090204"/>
              </a:defRPr>
            </a:lvl5pPr>
            <a:lvl6pPr>
              <a:defRPr sz="3150" b="1">
                <a:solidFill>
                  <a:srgbClr val="000000"/>
                </a:solidFill>
                <a:latin typeface="Arial" panose="020B0604020202090204"/>
                <a:ea typeface="Arial" panose="020B0604020202090204"/>
                <a:cs typeface="Arial" panose="020B0604020202090204"/>
              </a:defRPr>
            </a:lvl6pPr>
            <a:lvl7pPr>
              <a:defRPr sz="3150" b="1">
                <a:solidFill>
                  <a:srgbClr val="000000"/>
                </a:solidFill>
                <a:latin typeface="Arial" panose="020B0604020202090204"/>
                <a:ea typeface="Arial" panose="020B0604020202090204"/>
                <a:cs typeface="Arial" panose="020B0604020202090204"/>
              </a:defRPr>
            </a:lvl7pPr>
            <a:lvl8pPr>
              <a:defRPr sz="3150" b="1">
                <a:solidFill>
                  <a:srgbClr val="000000"/>
                </a:solidFill>
                <a:latin typeface="Arial" panose="020B0604020202090204"/>
                <a:ea typeface="Arial" panose="020B0604020202090204"/>
                <a:cs typeface="Arial" panose="020B0604020202090204"/>
              </a:defRPr>
            </a:lvl8pPr>
            <a:lvl9pPr>
              <a:defRPr sz="3150" b="1">
                <a:solidFill>
                  <a:srgbClr val="000000"/>
                </a:solidFill>
                <a:latin typeface="Arial" panose="020B0604020202090204"/>
                <a:ea typeface="Arial" panose="020B0604020202090204"/>
                <a:cs typeface="Arial" panose="020B0604020202090204"/>
              </a:defRPr>
            </a:lvl9pPr>
          </a:lstStyle>
          <a:p>
            <a:pPr>
              <a:defRPr sz="3150" b="1">
                <a:solidFill>
                  <a:srgbClr val="000000"/>
                </a:solidFill>
                <a:latin typeface="Arial" panose="020B0604020202090204"/>
                <a:ea typeface="Arial" panose="020B0604020202090204"/>
                <a:cs typeface="Arial" panose="020B0604020202090204"/>
              </a:defRPr>
            </a:pPr>
            <a:r>
              <a:rPr sz="3150" b="1">
                <a:solidFill>
                  <a:srgbClr val="000000"/>
                </a:solidFill>
                <a:latin typeface="Arial" panose="020B0604020202090204"/>
                <a:ea typeface="Arial" panose="020B0604020202090204"/>
                <a:cs typeface="Arial" panose="020B0604020202090204"/>
              </a:rPr>
              <a:t>Evidence index and project team</a:t>
            </a:r>
            <a:endParaRPr sz="3150" b="1">
              <a:solidFill>
                <a:srgbClr val="000000"/>
              </a:solidFill>
              <a:latin typeface="Arial" panose="020B0604020202090204"/>
              <a:ea typeface="Arial" panose="020B0604020202090204"/>
              <a:cs typeface="Arial" panose="020B0604020202090204"/>
            </a:endParaRPr>
          </a:p>
        </p:txBody>
      </p:sp>
      <p:sp>
        <p:nvSpPr>
          <p:cNvPr id="4" name="矩形 3"/>
          <p:cNvSpPr>
            <a:spLocks noGrp="1"/>
          </p:cNvSpPr>
          <p:nvPr/>
        </p:nvSpPr>
        <p:spPr>
          <a:xfrm>
            <a:off x="609600" y="6343650"/>
            <a:ext cx="571500" cy="266700"/>
          </a:xfrm>
          <a:prstGeom prst="rect">
            <a:avLst/>
          </a:prstGeom>
          <a:noFill/>
          <a:ln w="0">
            <a:noFill/>
          </a:ln>
        </p:spPr>
        <p:txBody>
          <a:bodyPr anchor="t"/>
          <a:lstStyle>
            <a:defPPr>
              <a:defRPr sz="1200" b="0">
                <a:solidFill>
                  <a:srgbClr val="000000"/>
                </a:solidFill>
                <a:latin typeface="Arial" panose="020B0604020202090204"/>
                <a:ea typeface="Arial" panose="020B0604020202090204"/>
                <a:cs typeface="Arial" panose="020B0604020202090204"/>
              </a:defRPr>
            </a:defPPr>
            <a:lvl1pPr>
              <a:defRPr sz="1200" b="0">
                <a:solidFill>
                  <a:srgbClr val="000000"/>
                </a:solidFill>
                <a:latin typeface="Arial" panose="020B0604020202090204"/>
                <a:ea typeface="Arial" panose="020B0604020202090204"/>
                <a:cs typeface="Arial" panose="020B0604020202090204"/>
              </a:defRPr>
            </a:lvl1pPr>
            <a:lvl2pPr>
              <a:defRPr sz="1200" b="0">
                <a:solidFill>
                  <a:srgbClr val="000000"/>
                </a:solidFill>
                <a:latin typeface="Arial" panose="020B0604020202090204"/>
                <a:ea typeface="Arial" panose="020B0604020202090204"/>
                <a:cs typeface="Arial" panose="020B0604020202090204"/>
              </a:defRPr>
            </a:lvl2pPr>
            <a:lvl3pPr>
              <a:defRPr sz="1200" b="0">
                <a:solidFill>
                  <a:srgbClr val="000000"/>
                </a:solidFill>
                <a:latin typeface="Arial" panose="020B0604020202090204"/>
                <a:ea typeface="Arial" panose="020B0604020202090204"/>
                <a:cs typeface="Arial" panose="020B0604020202090204"/>
              </a:defRPr>
            </a:lvl3pPr>
            <a:lvl4pPr>
              <a:defRPr sz="1200" b="0">
                <a:solidFill>
                  <a:srgbClr val="000000"/>
                </a:solidFill>
                <a:latin typeface="Arial" panose="020B0604020202090204"/>
                <a:ea typeface="Arial" panose="020B0604020202090204"/>
                <a:cs typeface="Arial" panose="020B0604020202090204"/>
              </a:defRPr>
            </a:lvl4pPr>
            <a:lvl5pPr>
              <a:defRPr sz="1200" b="0">
                <a:solidFill>
                  <a:srgbClr val="000000"/>
                </a:solidFill>
                <a:latin typeface="Arial" panose="020B0604020202090204"/>
                <a:ea typeface="Arial" panose="020B0604020202090204"/>
                <a:cs typeface="Arial" panose="020B0604020202090204"/>
              </a:defRPr>
            </a:lvl5pPr>
            <a:lvl6pPr>
              <a:defRPr sz="1200" b="0">
                <a:solidFill>
                  <a:srgbClr val="000000"/>
                </a:solidFill>
                <a:latin typeface="Arial" panose="020B0604020202090204"/>
                <a:ea typeface="Arial" panose="020B0604020202090204"/>
                <a:cs typeface="Arial" panose="020B0604020202090204"/>
              </a:defRPr>
            </a:lvl6pPr>
            <a:lvl7pPr>
              <a:defRPr sz="1200" b="0">
                <a:solidFill>
                  <a:srgbClr val="000000"/>
                </a:solidFill>
                <a:latin typeface="Arial" panose="020B0604020202090204"/>
                <a:ea typeface="Arial" panose="020B0604020202090204"/>
                <a:cs typeface="Arial" panose="020B0604020202090204"/>
              </a:defRPr>
            </a:lvl7pPr>
            <a:lvl8pPr>
              <a:defRPr sz="1200" b="0">
                <a:solidFill>
                  <a:srgbClr val="000000"/>
                </a:solidFill>
                <a:latin typeface="Arial" panose="020B0604020202090204"/>
                <a:ea typeface="Arial" panose="020B0604020202090204"/>
                <a:cs typeface="Arial" panose="020B0604020202090204"/>
              </a:defRPr>
            </a:lvl8pPr>
            <a:lvl9pPr>
              <a:defRPr sz="1200" b="0">
                <a:solidFill>
                  <a:srgbClr val="000000"/>
                </a:solidFill>
                <a:latin typeface="Arial" panose="020B0604020202090204"/>
                <a:ea typeface="Arial" panose="020B0604020202090204"/>
                <a:cs typeface="Arial" panose="020B0604020202090204"/>
              </a:defRPr>
            </a:lvl9pPr>
          </a:lstStyle>
          <a:p>
            <a:pPr>
              <a:defRPr sz="1200" b="0">
                <a:solidFill>
                  <a:srgbClr val="000000"/>
                </a:solidFill>
                <a:latin typeface="Arial" panose="020B0604020202090204"/>
                <a:ea typeface="Arial" panose="020B0604020202090204"/>
                <a:cs typeface="Arial" panose="020B0604020202090204"/>
              </a:defRPr>
            </a:pPr>
            <a:r>
              <a:rPr sz="1200" b="0">
                <a:solidFill>
                  <a:srgbClr val="000000"/>
                </a:solidFill>
                <a:latin typeface="Arial" panose="020B0604020202090204"/>
                <a:ea typeface="Arial" panose="020B0604020202090204"/>
                <a:cs typeface="Arial" panose="020B0604020202090204"/>
              </a:rPr>
              <a:t>14</a:t>
            </a:r>
            <a:endParaRPr sz="1200" b="0">
              <a:solidFill>
                <a:srgbClr val="000000"/>
              </a:solidFill>
              <a:latin typeface="Arial" panose="020B0604020202090204"/>
              <a:ea typeface="Arial" panose="020B0604020202090204"/>
              <a:cs typeface="Arial" panose="020B0604020202090204"/>
            </a:endParaRPr>
          </a:p>
        </p:txBody>
      </p:sp>
      <p:sp>
        <p:nvSpPr>
          <p:cNvPr id="5" name="矩形 4"/>
          <p:cNvSpPr>
            <a:spLocks noGrp="1"/>
          </p:cNvSpPr>
          <p:nvPr/>
        </p:nvSpPr>
        <p:spPr>
          <a:xfrm>
            <a:off x="609600" y="1571625"/>
            <a:ext cx="476250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Reviewable evidence</a:t>
            </a:r>
            <a:endParaRPr sz="2025" b="1">
              <a:solidFill>
                <a:srgbClr val="000000"/>
              </a:solidFill>
              <a:latin typeface="Arial" panose="020B0604020202090204"/>
              <a:ea typeface="Arial" panose="020B0604020202090204"/>
              <a:cs typeface="Arial" panose="020B0604020202090204"/>
            </a:endParaRPr>
          </a:p>
        </p:txBody>
      </p:sp>
      <p:sp>
        <p:nvSpPr>
          <p:cNvPr id="6" name="矩形 5"/>
          <p:cNvSpPr>
            <a:spLocks noGrp="1"/>
          </p:cNvSpPr>
          <p:nvPr/>
        </p:nvSpPr>
        <p:spPr>
          <a:xfrm>
            <a:off x="609600" y="2143125"/>
            <a:ext cx="6191250" cy="3143250"/>
          </a:xfrm>
          <a:prstGeom prst="rect">
            <a:avLst/>
          </a:prstGeom>
          <a:noFill/>
          <a:ln w="0">
            <a:noFill/>
          </a:ln>
        </p:spPr>
        <p:txBody>
          <a:bodyPr anchor="t"/>
          <a:lstStyle>
            <a:defPPr>
              <a:defRPr sz="1875" b="0">
                <a:solidFill>
                  <a:srgbClr val="000000"/>
                </a:solidFill>
                <a:latin typeface="Arial" panose="020B0604020202090204"/>
                <a:ea typeface="Arial" panose="020B0604020202090204"/>
                <a:cs typeface="Arial" panose="020B0604020202090204"/>
              </a:defRPr>
            </a:defPPr>
            <a:lvl1pPr>
              <a:defRPr sz="1875" b="0">
                <a:solidFill>
                  <a:srgbClr val="000000"/>
                </a:solidFill>
                <a:latin typeface="Arial" panose="020B0604020202090204"/>
                <a:ea typeface="Arial" panose="020B0604020202090204"/>
                <a:cs typeface="Arial" panose="020B0604020202090204"/>
              </a:defRPr>
            </a:lvl1pPr>
            <a:lvl2pPr>
              <a:defRPr sz="1875" b="0">
                <a:solidFill>
                  <a:srgbClr val="000000"/>
                </a:solidFill>
                <a:latin typeface="Arial" panose="020B0604020202090204"/>
                <a:ea typeface="Arial" panose="020B0604020202090204"/>
                <a:cs typeface="Arial" panose="020B0604020202090204"/>
              </a:defRPr>
            </a:lvl2pPr>
            <a:lvl3pPr>
              <a:defRPr sz="1875" b="0">
                <a:solidFill>
                  <a:srgbClr val="000000"/>
                </a:solidFill>
                <a:latin typeface="Arial" panose="020B0604020202090204"/>
                <a:ea typeface="Arial" panose="020B0604020202090204"/>
                <a:cs typeface="Arial" panose="020B0604020202090204"/>
              </a:defRPr>
            </a:lvl3pPr>
            <a:lvl4pPr>
              <a:defRPr sz="1875" b="0">
                <a:solidFill>
                  <a:srgbClr val="000000"/>
                </a:solidFill>
                <a:latin typeface="Arial" panose="020B0604020202090204"/>
                <a:ea typeface="Arial" panose="020B0604020202090204"/>
                <a:cs typeface="Arial" panose="020B0604020202090204"/>
              </a:defRPr>
            </a:lvl4pPr>
            <a:lvl5pPr>
              <a:defRPr sz="1875" b="0">
                <a:solidFill>
                  <a:srgbClr val="000000"/>
                </a:solidFill>
                <a:latin typeface="Arial" panose="020B0604020202090204"/>
                <a:ea typeface="Arial" panose="020B0604020202090204"/>
                <a:cs typeface="Arial" panose="020B0604020202090204"/>
              </a:defRPr>
            </a:lvl5pPr>
            <a:lvl6pPr>
              <a:defRPr sz="1875" b="0">
                <a:solidFill>
                  <a:srgbClr val="000000"/>
                </a:solidFill>
                <a:latin typeface="Arial" panose="020B0604020202090204"/>
                <a:ea typeface="Arial" panose="020B0604020202090204"/>
                <a:cs typeface="Arial" panose="020B0604020202090204"/>
              </a:defRPr>
            </a:lvl6pPr>
            <a:lvl7pPr>
              <a:defRPr sz="1875" b="0">
                <a:solidFill>
                  <a:srgbClr val="000000"/>
                </a:solidFill>
                <a:latin typeface="Arial" panose="020B0604020202090204"/>
                <a:ea typeface="Arial" panose="020B0604020202090204"/>
                <a:cs typeface="Arial" panose="020B0604020202090204"/>
              </a:defRPr>
            </a:lvl7pPr>
            <a:lvl8pPr>
              <a:defRPr sz="1875" b="0">
                <a:solidFill>
                  <a:srgbClr val="000000"/>
                </a:solidFill>
                <a:latin typeface="Arial" panose="020B0604020202090204"/>
                <a:ea typeface="Arial" panose="020B0604020202090204"/>
                <a:cs typeface="Arial" panose="020B0604020202090204"/>
              </a:defRPr>
            </a:lvl8pPr>
            <a:lvl9pPr>
              <a:defRPr sz="1875" b="0">
                <a:solidFill>
                  <a:srgbClr val="000000"/>
                </a:solidFill>
                <a:latin typeface="Arial" panose="020B0604020202090204"/>
                <a:ea typeface="Arial" panose="020B0604020202090204"/>
                <a:cs typeface="Arial" panose="020B0604020202090204"/>
              </a:defRPr>
            </a:lvl9pPr>
          </a:lstStyle>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Demo instructions</a:t>
            </a:r>
            <a:endParaRPr sz="1875" b="0">
              <a:solidFill>
                <a:srgbClr val="000000"/>
              </a:solidFill>
              <a:latin typeface="Arial" panose="020B0604020202090204"/>
              <a:ea typeface="Arial" panose="020B0604020202090204"/>
              <a:cs typeface="Arial" panose="020B0604020202090204"/>
            </a:endParaRPr>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demo/midterm/README.md</a:t>
            </a:r>
            <a:endParaRPr sz="1875" b="0">
              <a:solidFill>
                <a:srgbClr val="000000"/>
              </a:solidFill>
              <a:latin typeface="Arial" panose="020B0604020202090204"/>
              <a:ea typeface="Arial" panose="020B0604020202090204"/>
              <a:cs typeface="Arial" panose="020B0604020202090204"/>
            </a:endParaRPr>
          </a:p>
          <a:p>
            <a:endParaRPr sz="1875"/>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Submission narrative</a:t>
            </a:r>
            <a:endParaRPr sz="1875" b="0">
              <a:solidFill>
                <a:srgbClr val="000000"/>
              </a:solidFill>
              <a:latin typeface="Arial" panose="020B0604020202090204"/>
              <a:ea typeface="Arial" panose="020B0604020202090204"/>
              <a:cs typeface="Arial" panose="020B0604020202090204"/>
            </a:endParaRPr>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templates/submissions/week07/README.md</a:t>
            </a:r>
            <a:endParaRPr sz="1875" b="0">
              <a:solidFill>
                <a:srgbClr val="000000"/>
              </a:solidFill>
              <a:latin typeface="Arial" panose="020B0604020202090204"/>
              <a:ea typeface="Arial" panose="020B0604020202090204"/>
              <a:cs typeface="Arial" panose="020B0604020202090204"/>
            </a:endParaRPr>
          </a:p>
          <a:p>
            <a:endParaRPr sz="1875"/>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Verification record and screenshot</a:t>
            </a:r>
            <a:endParaRPr sz="1875" b="0">
              <a:solidFill>
                <a:srgbClr val="000000"/>
              </a:solidFill>
              <a:latin typeface="Arial" panose="020B0604020202090204"/>
              <a:ea typeface="Arial" panose="020B0604020202090204"/>
              <a:cs typeface="Arial" panose="020B0604020202090204"/>
            </a:endParaRPr>
          </a:p>
          <a:p>
            <a:pPr>
              <a:defRPr sz="1875" b="0">
                <a:solidFill>
                  <a:srgbClr val="000000"/>
                </a:solidFill>
                <a:latin typeface="Arial" panose="020B0604020202090204"/>
                <a:ea typeface="Arial" panose="020B0604020202090204"/>
                <a:cs typeface="Arial" panose="020B0604020202090204"/>
              </a:defRPr>
            </a:pPr>
            <a:r>
              <a:rPr sz="1875" b="0">
                <a:solidFill>
                  <a:srgbClr val="000000"/>
                </a:solidFill>
                <a:latin typeface="Arial" panose="020B0604020202090204"/>
                <a:ea typeface="Arial" panose="020B0604020202090204"/>
                <a:cs typeface="Arial" panose="020B0604020202090204"/>
              </a:rPr>
              <a:t>templates/submissions/week07/assets/</a:t>
            </a:r>
            <a:endParaRPr sz="1875" b="0">
              <a:solidFill>
                <a:srgbClr val="000000"/>
              </a:solidFill>
              <a:latin typeface="Arial" panose="020B0604020202090204"/>
              <a:ea typeface="Arial" panose="020B0604020202090204"/>
              <a:cs typeface="Arial" panose="020B0604020202090204"/>
            </a:endParaRPr>
          </a:p>
        </p:txBody>
      </p:sp>
      <p:sp>
        <p:nvSpPr>
          <p:cNvPr id="7" name="矩形 6"/>
          <p:cNvSpPr>
            <a:spLocks noGrp="1"/>
          </p:cNvSpPr>
          <p:nvPr/>
        </p:nvSpPr>
        <p:spPr>
          <a:xfrm>
            <a:off x="7524750" y="1571625"/>
            <a:ext cx="3714750" cy="428625"/>
          </a:xfrm>
          <a:prstGeom prst="rect">
            <a:avLst/>
          </a:prstGeom>
          <a:noFill/>
          <a:ln w="0">
            <a:noFill/>
          </a:ln>
        </p:spPr>
        <p:txBody>
          <a:bodyPr anchor="t"/>
          <a:lstStyle>
            <a:defPPr>
              <a:defRPr sz="2025" b="1">
                <a:solidFill>
                  <a:srgbClr val="000000"/>
                </a:solidFill>
                <a:latin typeface="Arial" panose="020B0604020202090204"/>
                <a:ea typeface="Arial" panose="020B0604020202090204"/>
                <a:cs typeface="Arial" panose="020B0604020202090204"/>
              </a:defRPr>
            </a:defPPr>
            <a:lvl1pPr>
              <a:defRPr sz="2025" b="1">
                <a:solidFill>
                  <a:srgbClr val="000000"/>
                </a:solidFill>
                <a:latin typeface="Arial" panose="020B0604020202090204"/>
                <a:ea typeface="Arial" panose="020B0604020202090204"/>
                <a:cs typeface="Arial" panose="020B0604020202090204"/>
              </a:defRPr>
            </a:lvl1pPr>
            <a:lvl2pPr>
              <a:defRPr sz="2025" b="1">
                <a:solidFill>
                  <a:srgbClr val="000000"/>
                </a:solidFill>
                <a:latin typeface="Arial" panose="020B0604020202090204"/>
                <a:ea typeface="Arial" panose="020B0604020202090204"/>
                <a:cs typeface="Arial" panose="020B0604020202090204"/>
              </a:defRPr>
            </a:lvl2pPr>
            <a:lvl3pPr>
              <a:defRPr sz="2025" b="1">
                <a:solidFill>
                  <a:srgbClr val="000000"/>
                </a:solidFill>
                <a:latin typeface="Arial" panose="020B0604020202090204"/>
                <a:ea typeface="Arial" panose="020B0604020202090204"/>
                <a:cs typeface="Arial" panose="020B0604020202090204"/>
              </a:defRPr>
            </a:lvl3pPr>
            <a:lvl4pPr>
              <a:defRPr sz="2025" b="1">
                <a:solidFill>
                  <a:srgbClr val="000000"/>
                </a:solidFill>
                <a:latin typeface="Arial" panose="020B0604020202090204"/>
                <a:ea typeface="Arial" panose="020B0604020202090204"/>
                <a:cs typeface="Arial" panose="020B0604020202090204"/>
              </a:defRPr>
            </a:lvl4pPr>
            <a:lvl5pPr>
              <a:defRPr sz="2025" b="1">
                <a:solidFill>
                  <a:srgbClr val="000000"/>
                </a:solidFill>
                <a:latin typeface="Arial" panose="020B0604020202090204"/>
                <a:ea typeface="Arial" panose="020B0604020202090204"/>
                <a:cs typeface="Arial" panose="020B0604020202090204"/>
              </a:defRPr>
            </a:lvl5pPr>
            <a:lvl6pPr>
              <a:defRPr sz="2025" b="1">
                <a:solidFill>
                  <a:srgbClr val="000000"/>
                </a:solidFill>
                <a:latin typeface="Arial" panose="020B0604020202090204"/>
                <a:ea typeface="Arial" panose="020B0604020202090204"/>
                <a:cs typeface="Arial" panose="020B0604020202090204"/>
              </a:defRPr>
            </a:lvl6pPr>
            <a:lvl7pPr>
              <a:defRPr sz="2025" b="1">
                <a:solidFill>
                  <a:srgbClr val="000000"/>
                </a:solidFill>
                <a:latin typeface="Arial" panose="020B0604020202090204"/>
                <a:ea typeface="Arial" panose="020B0604020202090204"/>
                <a:cs typeface="Arial" panose="020B0604020202090204"/>
              </a:defRPr>
            </a:lvl7pPr>
            <a:lvl8pPr>
              <a:defRPr sz="2025" b="1">
                <a:solidFill>
                  <a:srgbClr val="000000"/>
                </a:solidFill>
                <a:latin typeface="Arial" panose="020B0604020202090204"/>
                <a:ea typeface="Arial" panose="020B0604020202090204"/>
                <a:cs typeface="Arial" panose="020B0604020202090204"/>
              </a:defRPr>
            </a:lvl8pPr>
            <a:lvl9pPr>
              <a:defRPr sz="2025" b="1">
                <a:solidFill>
                  <a:srgbClr val="000000"/>
                </a:solidFill>
                <a:latin typeface="Arial" panose="020B0604020202090204"/>
                <a:ea typeface="Arial" panose="020B0604020202090204"/>
                <a:cs typeface="Arial" panose="020B0604020202090204"/>
              </a:defRPr>
            </a:lvl9pPr>
          </a:lstStyle>
          <a:p>
            <a:pPr>
              <a:defRPr sz="2025" b="1">
                <a:solidFill>
                  <a:srgbClr val="000000"/>
                </a:solidFill>
                <a:latin typeface="Arial" panose="020B0604020202090204"/>
                <a:ea typeface="Arial" panose="020B0604020202090204"/>
                <a:cs typeface="Arial" panose="020B0604020202090204"/>
              </a:defRPr>
            </a:pPr>
            <a:r>
              <a:rPr sz="2025" b="1">
                <a:solidFill>
                  <a:srgbClr val="000000"/>
                </a:solidFill>
                <a:latin typeface="Arial" panose="020B0604020202090204"/>
                <a:ea typeface="Arial" panose="020B0604020202090204"/>
                <a:cs typeface="Arial" panose="020B0604020202090204"/>
              </a:rPr>
              <a:t>Team responsibilities</a:t>
            </a:r>
            <a:endParaRPr sz="2025" b="1">
              <a:solidFill>
                <a:srgbClr val="000000"/>
              </a:solidFill>
              <a:latin typeface="Arial" panose="020B0604020202090204"/>
              <a:ea typeface="Arial" panose="020B0604020202090204"/>
              <a:cs typeface="Arial" panose="020B0604020202090204"/>
            </a:endParaRPr>
          </a:p>
        </p:txBody>
      </p:sp>
      <p:sp>
        <p:nvSpPr>
          <p:cNvPr id="8" name="矩形 7"/>
          <p:cNvSpPr>
            <a:spLocks noGrp="1"/>
          </p:cNvSpPr>
          <p:nvPr/>
        </p:nvSpPr>
        <p:spPr>
          <a:xfrm>
            <a:off x="7524750" y="2143125"/>
            <a:ext cx="3476625" cy="3762375"/>
          </a:xfrm>
          <a:prstGeom prst="rect">
            <a:avLst/>
          </a:prstGeom>
          <a:noFill/>
          <a:ln w="0">
            <a:noFill/>
          </a:ln>
        </p:spPr>
        <p:txBody>
          <a:bodyPr anchor="t"/>
          <a:lstStyle>
            <a:defPPr>
              <a:defRPr sz="1725" b="0">
                <a:solidFill>
                  <a:srgbClr val="000000"/>
                </a:solidFill>
                <a:latin typeface="Arial" panose="020B0604020202090204"/>
                <a:ea typeface="Arial" panose="020B0604020202090204"/>
                <a:cs typeface="Arial" panose="020B0604020202090204"/>
              </a:defRPr>
            </a:defPPr>
            <a:lvl1pPr>
              <a:defRPr sz="1725" b="0">
                <a:solidFill>
                  <a:srgbClr val="000000"/>
                </a:solidFill>
                <a:latin typeface="Arial" panose="020B0604020202090204"/>
                <a:ea typeface="Arial" panose="020B0604020202090204"/>
                <a:cs typeface="Arial" panose="020B0604020202090204"/>
              </a:defRPr>
            </a:lvl1pPr>
            <a:lvl2pPr>
              <a:defRPr sz="1725" b="0">
                <a:solidFill>
                  <a:srgbClr val="000000"/>
                </a:solidFill>
                <a:latin typeface="Arial" panose="020B0604020202090204"/>
                <a:ea typeface="Arial" panose="020B0604020202090204"/>
                <a:cs typeface="Arial" panose="020B0604020202090204"/>
              </a:defRPr>
            </a:lvl2pPr>
            <a:lvl3pPr>
              <a:defRPr sz="1725" b="0">
                <a:solidFill>
                  <a:srgbClr val="000000"/>
                </a:solidFill>
                <a:latin typeface="Arial" panose="020B0604020202090204"/>
                <a:ea typeface="Arial" panose="020B0604020202090204"/>
                <a:cs typeface="Arial" panose="020B0604020202090204"/>
              </a:defRPr>
            </a:lvl3pPr>
            <a:lvl4pPr>
              <a:defRPr sz="1725" b="0">
                <a:solidFill>
                  <a:srgbClr val="000000"/>
                </a:solidFill>
                <a:latin typeface="Arial" panose="020B0604020202090204"/>
                <a:ea typeface="Arial" panose="020B0604020202090204"/>
                <a:cs typeface="Arial" panose="020B0604020202090204"/>
              </a:defRPr>
            </a:lvl4pPr>
            <a:lvl5pPr>
              <a:defRPr sz="1725" b="0">
                <a:solidFill>
                  <a:srgbClr val="000000"/>
                </a:solidFill>
                <a:latin typeface="Arial" panose="020B0604020202090204"/>
                <a:ea typeface="Arial" panose="020B0604020202090204"/>
                <a:cs typeface="Arial" panose="020B0604020202090204"/>
              </a:defRPr>
            </a:lvl5pPr>
            <a:lvl6pPr>
              <a:defRPr sz="1725" b="0">
                <a:solidFill>
                  <a:srgbClr val="000000"/>
                </a:solidFill>
                <a:latin typeface="Arial" panose="020B0604020202090204"/>
                <a:ea typeface="Arial" panose="020B0604020202090204"/>
                <a:cs typeface="Arial" panose="020B0604020202090204"/>
              </a:defRPr>
            </a:lvl6pPr>
            <a:lvl7pPr>
              <a:defRPr sz="1725" b="0">
                <a:solidFill>
                  <a:srgbClr val="000000"/>
                </a:solidFill>
                <a:latin typeface="Arial" panose="020B0604020202090204"/>
                <a:ea typeface="Arial" panose="020B0604020202090204"/>
                <a:cs typeface="Arial" panose="020B0604020202090204"/>
              </a:defRPr>
            </a:lvl7pPr>
            <a:lvl8pPr>
              <a:defRPr sz="1725" b="0">
                <a:solidFill>
                  <a:srgbClr val="000000"/>
                </a:solidFill>
                <a:latin typeface="Arial" panose="020B0604020202090204"/>
                <a:ea typeface="Arial" panose="020B0604020202090204"/>
                <a:cs typeface="Arial" panose="020B0604020202090204"/>
              </a:defRPr>
            </a:lvl8pPr>
            <a:lvl9pPr>
              <a:defRPr sz="1725" b="0">
                <a:solidFill>
                  <a:srgbClr val="000000"/>
                </a:solidFill>
                <a:latin typeface="Arial" panose="020B0604020202090204"/>
                <a:ea typeface="Arial" panose="020B0604020202090204"/>
                <a:cs typeface="Arial" panose="020B0604020202090204"/>
              </a:defRPr>
            </a:lvl9pPr>
          </a:lstStyle>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FEI, Wenxiang</a:t>
            </a:r>
            <a:endParaRPr sz="1725" b="0">
              <a:solidFill>
                <a:srgbClr val="000000"/>
              </a:solidFill>
              <a:latin typeface="Arial" panose="020B0604020202090204"/>
              <a:ea typeface="Arial" panose="020B0604020202090204"/>
              <a:cs typeface="Arial" panose="020B0604020202090204"/>
            </a:endParaRPr>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R1  Data and ingestion</a:t>
            </a:r>
            <a:endParaRPr sz="1725" b="0">
              <a:solidFill>
                <a:srgbClr val="000000"/>
              </a:solidFill>
              <a:latin typeface="Arial" panose="020B0604020202090204"/>
              <a:ea typeface="Arial" panose="020B0604020202090204"/>
              <a:cs typeface="Arial" panose="020B0604020202090204"/>
            </a:endParaRPr>
          </a:p>
          <a:p>
            <a:endParaRPr sz="1725"/>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XIANG, Ke</a:t>
            </a:r>
            <a:endParaRPr sz="1725" b="0">
              <a:solidFill>
                <a:srgbClr val="000000"/>
              </a:solidFill>
              <a:latin typeface="Arial" panose="020B0604020202090204"/>
              <a:ea typeface="Arial" panose="020B0604020202090204"/>
              <a:cs typeface="Arial" panose="020B0604020202090204"/>
            </a:endParaRPr>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R2  Worker reliability</a:t>
            </a:r>
            <a:endParaRPr sz="1725" b="0">
              <a:solidFill>
                <a:srgbClr val="000000"/>
              </a:solidFill>
              <a:latin typeface="Arial" panose="020B0604020202090204"/>
              <a:ea typeface="Arial" panose="020B0604020202090204"/>
              <a:cs typeface="Arial" panose="020B0604020202090204"/>
            </a:endParaRPr>
          </a:p>
          <a:p>
            <a:endParaRPr sz="1725"/>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XU, Chao</a:t>
            </a:r>
            <a:endParaRPr sz="1725" b="0">
              <a:solidFill>
                <a:srgbClr val="000000"/>
              </a:solidFill>
              <a:latin typeface="Arial" panose="020B0604020202090204"/>
              <a:ea typeface="Arial" panose="020B0604020202090204"/>
              <a:cs typeface="Arial" panose="020B0604020202090204"/>
            </a:endParaRPr>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R3  AI and evaluation</a:t>
            </a:r>
            <a:endParaRPr sz="1725" b="0">
              <a:solidFill>
                <a:srgbClr val="000000"/>
              </a:solidFill>
              <a:latin typeface="Arial" panose="020B0604020202090204"/>
              <a:ea typeface="Arial" panose="020B0604020202090204"/>
              <a:cs typeface="Arial" panose="020B0604020202090204"/>
            </a:endParaRPr>
          </a:p>
          <a:p>
            <a:endParaRPr sz="1725"/>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ZHANG, Mingyang</a:t>
            </a:r>
            <a:endParaRPr sz="1725" b="0">
              <a:solidFill>
                <a:srgbClr val="000000"/>
              </a:solidFill>
              <a:latin typeface="Arial" panose="020B0604020202090204"/>
              <a:ea typeface="Arial" panose="020B0604020202090204"/>
              <a:cs typeface="Arial" panose="020B0604020202090204"/>
            </a:endParaRPr>
          </a:p>
          <a:p>
            <a:pPr>
              <a:defRPr sz="1725" b="0">
                <a:solidFill>
                  <a:srgbClr val="000000"/>
                </a:solidFill>
                <a:latin typeface="Arial" panose="020B0604020202090204"/>
                <a:ea typeface="Arial" panose="020B0604020202090204"/>
                <a:cs typeface="Arial" panose="020B0604020202090204"/>
              </a:defRPr>
            </a:pPr>
            <a:r>
              <a:rPr sz="1725" b="0">
                <a:solidFill>
                  <a:srgbClr val="000000"/>
                </a:solidFill>
                <a:latin typeface="Arial" panose="020B0604020202090204"/>
                <a:ea typeface="Arial" panose="020B0604020202090204"/>
                <a:cs typeface="Arial" panose="020B0604020202090204"/>
              </a:rPr>
              <a:t>R4  Product and review</a:t>
            </a:r>
            <a:endParaRPr sz="1725" b="0">
              <a:solidFill>
                <a:srgbClr val="000000"/>
              </a:solidFill>
              <a:latin typeface="Arial" panose="020B0604020202090204"/>
              <a:ea typeface="Arial" panose="020B0604020202090204"/>
              <a:cs typeface="Arial" panose="020B0604020202090204"/>
            </a:endParaRPr>
          </a:p>
        </p:txBody>
      </p:sp>
      <p:sp>
        <p:nvSpPr>
          <p:cNvPr id="9" name="矩形 8"/>
          <p:cNvSpPr>
            <a:spLocks noGrp="1"/>
          </p:cNvSpPr>
          <p:nvPr/>
        </p:nvSpPr>
        <p:spPr>
          <a:xfrm>
            <a:off x="609600" y="5572125"/>
            <a:ext cx="6572250" cy="619125"/>
          </a:xfrm>
          <a:prstGeom prst="rect">
            <a:avLst/>
          </a:prstGeom>
          <a:noFill/>
          <a:ln w="0">
            <a:noFill/>
          </a:ln>
        </p:spPr>
        <p:txBody>
          <a:bodyPr anchor="t"/>
          <a:lstStyle>
            <a:defPPr>
              <a:defRPr sz="1425" b="0">
                <a:solidFill>
                  <a:srgbClr val="000000"/>
                </a:solidFill>
                <a:latin typeface="Arial" panose="020B0604020202090204"/>
                <a:ea typeface="Arial" panose="020B0604020202090204"/>
                <a:cs typeface="Arial" panose="020B0604020202090204"/>
              </a:defRPr>
            </a:defPPr>
            <a:lvl1pPr>
              <a:defRPr sz="1425" b="0">
                <a:solidFill>
                  <a:srgbClr val="000000"/>
                </a:solidFill>
                <a:latin typeface="Arial" panose="020B0604020202090204"/>
                <a:ea typeface="Arial" panose="020B0604020202090204"/>
                <a:cs typeface="Arial" panose="020B0604020202090204"/>
              </a:defRPr>
            </a:lvl1pPr>
            <a:lvl2pPr>
              <a:defRPr sz="1425" b="0">
                <a:solidFill>
                  <a:srgbClr val="000000"/>
                </a:solidFill>
                <a:latin typeface="Arial" panose="020B0604020202090204"/>
                <a:ea typeface="Arial" panose="020B0604020202090204"/>
                <a:cs typeface="Arial" panose="020B0604020202090204"/>
              </a:defRPr>
            </a:lvl2pPr>
            <a:lvl3pPr>
              <a:defRPr sz="1425" b="0">
                <a:solidFill>
                  <a:srgbClr val="000000"/>
                </a:solidFill>
                <a:latin typeface="Arial" panose="020B0604020202090204"/>
                <a:ea typeface="Arial" panose="020B0604020202090204"/>
                <a:cs typeface="Arial" panose="020B0604020202090204"/>
              </a:defRPr>
            </a:lvl3pPr>
            <a:lvl4pPr>
              <a:defRPr sz="1425" b="0">
                <a:solidFill>
                  <a:srgbClr val="000000"/>
                </a:solidFill>
                <a:latin typeface="Arial" panose="020B0604020202090204"/>
                <a:ea typeface="Arial" panose="020B0604020202090204"/>
                <a:cs typeface="Arial" panose="020B0604020202090204"/>
              </a:defRPr>
            </a:lvl4pPr>
            <a:lvl5pPr>
              <a:defRPr sz="1425" b="0">
                <a:solidFill>
                  <a:srgbClr val="000000"/>
                </a:solidFill>
                <a:latin typeface="Arial" panose="020B0604020202090204"/>
                <a:ea typeface="Arial" panose="020B0604020202090204"/>
                <a:cs typeface="Arial" panose="020B0604020202090204"/>
              </a:defRPr>
            </a:lvl5pPr>
            <a:lvl6pPr>
              <a:defRPr sz="1425" b="0">
                <a:solidFill>
                  <a:srgbClr val="000000"/>
                </a:solidFill>
                <a:latin typeface="Arial" panose="020B0604020202090204"/>
                <a:ea typeface="Arial" panose="020B0604020202090204"/>
                <a:cs typeface="Arial" panose="020B0604020202090204"/>
              </a:defRPr>
            </a:lvl6pPr>
            <a:lvl7pPr>
              <a:defRPr sz="1425" b="0">
                <a:solidFill>
                  <a:srgbClr val="000000"/>
                </a:solidFill>
                <a:latin typeface="Arial" panose="020B0604020202090204"/>
                <a:ea typeface="Arial" panose="020B0604020202090204"/>
                <a:cs typeface="Arial" panose="020B0604020202090204"/>
              </a:defRPr>
            </a:lvl7pPr>
            <a:lvl8pPr>
              <a:defRPr sz="1425" b="0">
                <a:solidFill>
                  <a:srgbClr val="000000"/>
                </a:solidFill>
                <a:latin typeface="Arial" panose="020B0604020202090204"/>
                <a:ea typeface="Arial" panose="020B0604020202090204"/>
                <a:cs typeface="Arial" panose="020B0604020202090204"/>
              </a:defRPr>
            </a:lvl8pPr>
            <a:lvl9pPr>
              <a:defRPr sz="1425" b="0">
                <a:solidFill>
                  <a:srgbClr val="000000"/>
                </a:solidFill>
                <a:latin typeface="Arial" panose="020B0604020202090204"/>
                <a:ea typeface="Arial" panose="020B0604020202090204"/>
                <a:cs typeface="Arial" panose="020B0604020202090204"/>
              </a:defRPr>
            </a:lvl9pPr>
          </a:lstStyle>
          <a:p>
            <a:pPr>
              <a:defRPr sz="1425" b="0">
                <a:solidFill>
                  <a:srgbClr val="000000"/>
                </a:solidFill>
                <a:latin typeface="Arial" panose="020B0604020202090204"/>
                <a:ea typeface="Arial" panose="020B0604020202090204"/>
                <a:cs typeface="Arial" panose="020B0604020202090204"/>
              </a:defRPr>
            </a:pPr>
            <a:r>
              <a:rPr sz="1425" b="0">
                <a:solidFill>
                  <a:srgbClr val="000000"/>
                </a:solidFill>
                <a:latin typeface="Arial" panose="020B0604020202090204"/>
                <a:ea typeface="Arial" panose="020B0604020202090204"/>
                <a:cs typeface="Arial" panose="020B0604020202090204"/>
              </a:rPr>
              <a:t>AI assistance: </a:t>
            </a:r>
            <a:r>
              <a:rPr lang="en-US" altLang="zh-CN" sz="1425" b="0">
                <a:solidFill>
                  <a:srgbClr val="000000"/>
                </a:solidFill>
                <a:latin typeface="Arial" panose="020B0604020202090204"/>
                <a:ea typeface="Arial" panose="020B0604020202090204"/>
                <a:cs typeface="Arial" panose="020B0604020202090204"/>
              </a:rPr>
              <a:t>Used ChatGPT to structure the content, polish the wording, and revise the text.</a:t>
            </a:r>
            <a:endParaRPr lang="en-US" altLang="zh-CN" sz="1425" b="0">
              <a:solidFill>
                <a:srgbClr val="000000"/>
              </a:solidFill>
              <a:latin typeface="Arial" panose="020B0604020202090204"/>
              <a:ea typeface="Arial" panose="020B0604020202090204"/>
              <a:cs typeface="Arial" panose="020B0604020202090204"/>
            </a:endParaRPr>
          </a:p>
          <a:p>
            <a:pPr>
              <a:defRPr sz="1425" b="0">
                <a:solidFill>
                  <a:srgbClr val="000000"/>
                </a:solidFill>
                <a:latin typeface="Arial" panose="020B0604020202090204"/>
                <a:ea typeface="Arial" panose="020B0604020202090204"/>
                <a:cs typeface="Arial" panose="020B0604020202090204"/>
              </a:defRPr>
            </a:pPr>
            <a:endParaRPr sz="1425" b="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5510</Words>
  <Application>WPS 演示</Application>
  <PresentationFormat>Converted Presentation</PresentationFormat>
  <Paragraphs>359</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宋体</vt:lpstr>
      <vt:lpstr>Wingdings</vt:lpstr>
      <vt:lpstr>Arial</vt:lpstr>
      <vt:lpstr>Courier New</vt:lpstr>
      <vt:lpstr>微软雅黑</vt:lpstr>
      <vt:lpstr>方正雅意黑 GB18030L2</vt:lpstr>
      <vt:lpstr>宋体</vt:lpstr>
      <vt:lpstr>Arial Unicode MS</vt:lpstr>
      <vt:lpstr>汉仪书宋二KW</vt:lpstr>
      <vt:lpstr>Calibri</vt:lpstr>
      <vt:lpstr>Helvetica Neue</vt:lpstr>
      <vt:lpstr>Courier New</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究极徐大胆</cp:lastModifiedBy>
  <cp:revision>1</cp:revision>
  <dcterms:created xsi:type="dcterms:W3CDTF">2026-10-29T16:37:01Z</dcterms:created>
  <dcterms:modified xsi:type="dcterms:W3CDTF">2026-10-29T16:37:01Z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8B93FB726C0B82C72D76E36AA749D909_42</vt:lpwstr>
  </property>
  <property fmtid="{D5CDD505-2E9C-101B-9397-08002B2CF9AE}" pid="3" name="KSOProductBuildVer">
    <vt:lpwstr>2052-12.1.28496.28496</vt:lpwstr>
  </property>
</Properties>
</file>